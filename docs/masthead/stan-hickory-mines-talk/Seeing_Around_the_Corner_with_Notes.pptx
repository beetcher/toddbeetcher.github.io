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96" r:id="rId2"/>
    <p:sldId id="295" r:id="rId3"/>
    <p:sldId id="280" r:id="rId4"/>
    <p:sldId id="297" r:id="rId5"/>
    <p:sldId id="298" r:id="rId6"/>
    <p:sldId id="288" r:id="rId7"/>
    <p:sldId id="293" r:id="rId8"/>
    <p:sldId id="29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691"/>
    <p:restoredTop sz="94610"/>
  </p:normalViewPr>
  <p:slideViewPr>
    <p:cSldViewPr snapToGrid="0" snapToObjects="1">
      <p:cViewPr varScale="1">
        <p:scale>
          <a:sx n="51" d="100"/>
          <a:sy n="51" d="100"/>
        </p:scale>
        <p:origin x="208" y="8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949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a:t>OPEN WITH 3 QUESTIONS — HANDS UP. Do not introduce yourself yet.</a:t>
            </a:r>
          </a:p>
          <a:p>
            <a:pPr marL="0" indent="0">
              <a:buNone/>
            </a:pPr>
            <a:endParaRPr lang="en-US" dirty="0"/>
          </a:p>
          <a:p>
            <a:pPr marL="0" indent="0">
              <a:buNone/>
            </a:pPr>
            <a:r>
              <a:rPr lang="en-US" dirty="0"/>
              <a:t>1. Who here makes an effort to stay on top of new technology and what's coming? (Follow up: how? Newsletters, podcasts, YouTube, reading?)</a:t>
            </a:r>
          </a:p>
          <a:p>
            <a:pPr marL="0" indent="0">
              <a:buNone/>
            </a:pPr>
            <a:endParaRPr lang="en-US" dirty="0"/>
          </a:p>
          <a:p>
            <a:pPr marL="0" indent="0">
              <a:buNone/>
            </a:pPr>
            <a:r>
              <a:rPr lang="en-US" dirty="0"/>
              <a:t>2. Who notices the little friction points around you? Things that make you think: why do people do it that way? Why is that still so hard? Couldn't that be done better?</a:t>
            </a:r>
          </a:p>
          <a:p>
            <a:pPr marL="0" indent="0">
              <a:buNone/>
            </a:pPr>
            <a:endParaRPr lang="en-US" dirty="0"/>
          </a:p>
          <a:p>
            <a:pPr marL="0" indent="0">
              <a:buNone/>
            </a:pPr>
            <a:r>
              <a:rPr lang="en-US" b="1" dirty="0"/>
              <a:t>Payoff: "Fantastic. You're already halfway there."</a:t>
            </a:r>
          </a:p>
          <a:p>
            <a:pPr marL="0" indent="0">
              <a:buNone/>
            </a:pPr>
            <a:endParaRPr lang="en-US" dirty="0"/>
          </a:p>
          <a:p>
            <a:pPr marL="0" indent="0">
              <a:buNone/>
            </a:pPr>
            <a:r>
              <a:rPr lang="en-US" dirty="0"/>
              <a:t>3. Who was born after 2006? (Most hands.) "So none of you were alive for any of what I'm about to show you. Good. I'm not here to make you nostalgic. I'm here to show you what a corner looks like BEFORE you turn it."</a:t>
            </a:r>
          </a:p>
          <a:p>
            <a:pPr marL="0" indent="0">
              <a:buNone/>
            </a:pPr>
            <a:endParaRPr lang="en-US" dirty="0"/>
          </a:p>
          <a:p>
            <a:pPr marL="0" indent="0">
              <a:buNone/>
            </a:pPr>
            <a:r>
              <a:rPr lang="en-US" dirty="0"/>
              <a:t>THEN introduce yourself, briefly: University of Minnesota computer science. IBM. Compaq. Then two decades immersed in product innovation. Here to talk about what it means to see around the corner.</a:t>
            </a:r>
          </a:p>
          <a:p>
            <a:pPr marL="0" indent="0">
              <a:buNone/>
            </a:pPr>
            <a:endParaRPr lang="en-US" dirty="0"/>
          </a:p>
          <a:p>
            <a:pPr marL="0" indent="0">
              <a:buNone/>
            </a:pPr>
            <a:r>
              <a:rPr lang="en-US" b="1" dirty="0"/>
              <a:t>Leave this slide up while you talk. The sentence on screen is the entire talk — do not read it aloud, let them read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PROTAGONIST. Forrest Norrod is the person who handed me the problem that led to all of this. Walk the trajectory quickly: Cyrix -&gt; Dell (VP &amp; GM, Server Business, reporting to Michael Dell for about a decade) -&gt; AMD (EVP &amp; GM, Data Center Solutions -- AMD's #2, runs AI and datacenter).</a:t>
            </a:r>
          </a:p>
          <a:p/>
          <a:p>
            <a:r>
              <a:t>Point: this is where that 1997 story leads. Now go backward -- to the moment when Forrest had a problem and I worked for him.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SETUP. Cyrix built the M1 -- pin-compatible with Intel, so PC makers (Compaq, Gateway, IBM, Dell) could slot it straight in. But OEMs mostly used that compatibility as price leverage against Intel, not real volume. We kept struggling to win sockets.</a:t>
            </a:r>
          </a:p>
          <a:p/>
          <a:p>
            <a:r>
              <a:t>Forrest's answer: MediaGX -- integrate the North Bridge and Super I/O functionality into the processor itself. Smaller footprint, lower power, less heat. Real advantages for portable computing.</a:t>
            </a:r>
          </a:p>
          <a:p/>
          <a:p>
            <a:r>
              <a:t>But it broke pin-compatibility. Now we were asking PC companies to invest millions building a unique laptop platform around one small single-source supplier.</a:t>
            </a:r>
          </a:p>
          <a:p/>
          <a:p>
            <a:r>
              <a:t>Commercial response: BUPKIS. Let that word sit -- it's funny, and it's true. Now there's millions of dollars of processor development and no product. My job: "crap, now what are we going to 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en-US" b="1" dirty="0"/>
              <a:t>THE TEACHING SLIDE. Slow down. This is the longest dwell in the deck besides the props.</a:t>
            </a:r>
          </a:p>
          <a:p>
            <a:pPr marL="0" indent="0">
              <a:buNone/>
            </a:pPr>
            <a:endParaRPr lang="en-US" dirty="0"/>
          </a:p>
          <a:p>
            <a:pPr marL="0" indent="0">
              <a:buNone/>
            </a:pPr>
            <a:r>
              <a:rPr lang="en-US" dirty="0"/>
              <a:t>Frame it: none of this was secret in 1997. Every item on this slide was sitting in plain sight for anyone who was paying attention.</a:t>
            </a:r>
          </a:p>
          <a:p>
            <a:pPr marL="0" indent="0">
              <a:buNone/>
            </a:pPr>
            <a:endParaRPr lang="en-US" dirty="0"/>
          </a:p>
          <a:p>
            <a:pPr marL="0" indent="0">
              <a:buNone/>
            </a:pPr>
            <a:r>
              <a:rPr lang="en-US" dirty="0"/>
              <a:t>LEFT — the technology was advancing. Say the line out loud: "Watch all the technology, not just your own." The tech that mattered to me was OUTSIDE my company. That is the difference between an engineer reading a roadmap and an entrepreneur reading a market.</a:t>
            </a:r>
          </a:p>
          <a:p>
            <a:pPr marL="0" indent="0">
              <a:buNone/>
            </a:pPr>
            <a:endParaRPr lang="en-US" dirty="0"/>
          </a:p>
          <a:p>
            <a:pPr marL="0" indent="0">
              <a:buNone/>
            </a:pPr>
            <a:r>
              <a:rPr lang="en-US" dirty="0"/>
              <a:t>RIGHT — the ritual was changing. Internet use was climbing, the web was becoming a daily habit, and people wanted it in more places than the desk.</a:t>
            </a:r>
          </a:p>
          <a:p>
            <a:pPr marL="0" indent="0">
              <a:buNone/>
            </a:pPr>
            <a:endParaRPr lang="en-US" dirty="0"/>
          </a:p>
          <a:p>
            <a:pPr marL="0" indent="0">
              <a:buNone/>
            </a:pPr>
            <a:r>
              <a:rPr lang="en-US" dirty="0"/>
              <a:t>BOOM = the collision. Do not explain the WebPad yet. Let the bottom line land: "The internet was ready to leave the desk."</a:t>
            </a:r>
          </a:p>
          <a:p>
            <a:pPr marL="0" indent="0">
              <a:buNone/>
            </a:pPr>
            <a:endParaRPr lang="en-US" dirty="0"/>
          </a:p>
          <a:p>
            <a:pPr marL="0" indent="0">
              <a:buNone/>
            </a:pPr>
            <a:r>
              <a:rPr lang="en-US" b="1" dirty="0"/>
              <a:t>HINDSIGHT GUARD: keep emphasizing what was observable AT THE TIME, before anybody knew the answer. This is the antidote to "well, obviously."</a:t>
            </a:r>
          </a:p>
          <a:p>
            <a:pPr marL="0" indent="0">
              <a:buNone/>
            </a:pPr>
            <a:endParaRPr lang="en-US" dirty="0"/>
          </a:p>
          <a:p>
            <a:pPr marL="0" indent="0">
              <a:buNone/>
            </a:pPr>
            <a:r>
              <a:rPr lang="en-US" b="1" dirty="0"/>
              <a:t>THEN GO TO THE PROPS — off PowerPoint, this slide stays up:</a:t>
            </a:r>
          </a:p>
          <a:p>
            <a:pPr marL="0" indent="0">
              <a:buNone/>
            </a:pPr>
            <a:r>
              <a:rPr lang="en-US" dirty="0"/>
              <a:t>1. Etch A Sketch. The physical origin of the idea in my head. I cannot claim I invented a navigational tablet with a screen — this already existed.</a:t>
            </a:r>
          </a:p>
          <a:p>
            <a:pPr marL="0" indent="0">
              <a:buNone/>
            </a:pPr>
            <a:r>
              <a:rPr lang="en-US" dirty="0"/>
              <a:t>2. WebPad pressboard / development artifact. Idea moving into engineering reality.</a:t>
            </a:r>
          </a:p>
          <a:p>
            <a:pPr marL="0" indent="0">
              <a:buNone/>
            </a:pPr>
            <a:r>
              <a:rPr lang="en-US" dirty="0"/>
              <a:t>3. WebPad Unit 1. "This is what came out of it."</a:t>
            </a:r>
          </a:p>
          <a:p>
            <a:pPr marL="0" indent="0">
              <a:buNone/>
            </a:pPr>
            <a:r>
              <a:rPr lang="en-US" dirty="0"/>
              <a:t>No iPad. Everybody knows what an iPad looks like — showing one dilutes the lesson. The star is the WebPad at the moment the destination was still around the corner.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en-US" b="1" dirty="0"/>
              <a:t>THE PROPS COME BEFORE THIS SLIDE. Etch A Sketch, then the pressboard artifact, then WebPad Unit 1. Full notes are on the 1997 collision slide.</a:t>
            </a:r>
          </a:p>
          <a:p>
            <a:pPr marL="0" indent="0">
              <a:buNone/>
            </a:pPr>
            <a:endParaRPr lang="en-US" dirty="0"/>
          </a:p>
          <a:p>
            <a:pPr marL="0" indent="0">
              <a:buNone/>
            </a:pPr>
            <a:r>
              <a:rPr lang="en-US" b="1" dirty="0"/>
              <a:t>This slide is the credit beat. Keep it short.</a:t>
            </a:r>
          </a:p>
          <a:p>
            <a:pPr marL="0" indent="0">
              <a:buNone/>
            </a:pPr>
            <a:endParaRPr lang="en-US" dirty="0"/>
          </a:p>
          <a:p>
            <a:pPr marL="0" indent="0">
              <a:buNone/>
            </a:pPr>
            <a:r>
              <a:rPr lang="en-US" dirty="0"/>
              <a:t>"And I didn't do this myself. These are the people who actually made it happen."</a:t>
            </a:r>
          </a:p>
          <a:p>
            <a:pPr marL="0" indent="0">
              <a:buNone/>
            </a:pPr>
            <a:endParaRPr lang="en-US" dirty="0"/>
          </a:p>
          <a:p>
            <a:pPr marL="0" indent="0">
              <a:buNone/>
            </a:pPr>
            <a:r>
              <a:rPr lang="en-US" dirty="0"/>
              <a:t>Cyrix Conceptual Products Group, Longmont, Colorado, 1997-98. Mention Longmont — it is local to this room.</a:t>
            </a:r>
          </a:p>
          <a:p>
            <a:pPr marL="0" indent="0">
              <a:buNone/>
            </a:pPr>
            <a:endParaRPr lang="en-US" dirty="0"/>
          </a:p>
          <a:p>
            <a:pPr marL="0" indent="0">
              <a:buNone/>
            </a:pPr>
            <a:r>
              <a:rPr lang="en-US" dirty="0"/>
              <a:t>Purpose: innovation becomes real through teams, not through one person's insight. This slide is what keeps the WebPad story from sounding self-congratulatory. Do not read all seven names unless a student asks.</a:t>
            </a:r>
          </a:p>
          <a:p>
            <a:pPr marL="0" indent="0">
              <a:buNone/>
            </a:pPr>
            <a:endParaRPr lang="en-US" dirty="0"/>
          </a:p>
          <a:p>
            <a:pPr marL="0" indent="0">
              <a:buNone/>
            </a:pPr>
            <a:r>
              <a:rPr lang="en-US" b="1" dirty="0"/>
              <a:t>Then move to the three follow-on examples — 15 to 30 seconds each, no war stories.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15-30 SECONDS EACH. Not three more war stories -- proof the pattern repeats.</a:t>
            </a:r>
          </a:p>
          <a:p/>
          <a:p>
            <a:r>
              <a:t>ZUM (2003) -- adult sports nutrition was advancing, youth sports nutrition hadn't caught up. Watching my own kids and other young athletes. Built a sports-nutrition product for kids.</a:t>
            </a:r>
          </a:p>
          <a:p/>
          <a:p>
            <a:r>
              <a:t>BOCS (2006) -- TiVo arrives while I'm training for Ironman. I wanted it in one room, Suzanne wanted it in another. Moving the box around was the friction. New entertainment tech collides with ordinary household behavior -&gt; whole-home distribution.</a:t>
            </a:r>
          </a:p>
          <a:p/>
          <a:p>
            <a:r>
              <a:t>THUMP (2010) -- digital music goes pervasive while I'm deep into endurance sports. Cords are a nuisance; I'm using a business Bluetooth headset just to work out. Bluetooth + digital music + endurance athletics collide -&gt; wireless sports audio.</a:t>
            </a:r>
          </a:p>
          <a:p/>
          <a:p>
            <a:r>
              <a:t>The pattern: sometimes someone hands you the problem (Forrest). Sometimes you live the friction yourself (BOCS, THUMP). Sometimes you watch it happen to someone you care about (ZUM).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MIRROR SLIDE 1. Same sentence, now loaded with meaning from the stories.</a:t>
            </a:r>
          </a:p>
          <a:p/>
          <a:p>
            <a:r>
              <a:t>Hand it back to them:</a:t>
            </a:r>
          </a:p>
          <a:p>
            <a:r>
              <a:t>Immerse yourself in the technology.</a:t>
            </a:r>
          </a:p>
          <a:p>
            <a:r>
              <a:t>Remember to look up.</a:t>
            </a:r>
          </a:p>
          <a:p>
            <a:r>
              <a:t>Watch what people are doing. Watch how rituals are changing.</a:t>
            </a:r>
          </a:p>
          <a:p>
            <a:r>
              <a:t>Notice what frustrates them. Notice what suddenly became possible. Notice what no longer makes sense.</a:t>
            </a:r>
          </a:p>
          <a:p>
            <a:r>
              <a:t>Sometimes someone hands you the problem. Sometimes you experience it yourself. Sometimes you see it affecting someone you care about.</a:t>
            </a:r>
          </a:p>
          <a:p>
            <a:r>
              <a:t>Every once in a while, you will see the collision before everybody else.</a:t>
            </a:r>
          </a:p>
          <a:p/>
          <a:p>
            <a:r>
              <a:t>"I hope you see around the corner."</a:t>
            </a:r>
          </a:p>
          <a:p/>
          <a:p>
            <a:r>
              <a:t>Leave this up through Q&amp;A.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en-US" dirty="0"/>
              <a:t>AI IS THE ACCELERANT, NOT THE TOPIC. Don't give them another generic "AI changes everything" talk.</a:t>
            </a:r>
          </a:p>
          <a:p>
            <a:pPr marL="0" indent="0">
              <a:buNone/>
            </a:pPr>
            <a:endParaRPr lang="en-US" dirty="0"/>
          </a:p>
          <a:p>
            <a:pPr marL="0" indent="0">
              <a:buNone/>
            </a:pPr>
            <a:r>
              <a:rPr lang="en-US" dirty="0"/>
              <a:t>AI speeds up every field, not just software -- materials science, mining, energy, robotics are your corners in this room. Same pattern, faster clock.</a:t>
            </a:r>
          </a:p>
          <a:p>
            <a:pPr marL="0" indent="0">
              <a:buNone/>
            </a:pPr>
            <a:endParaRPr lang="en-US" dirty="0"/>
          </a:p>
          <a:p>
            <a:pPr marL="0" indent="0">
              <a:buNone/>
            </a:pPr>
            <a:r>
              <a:rPr lang="en-US" dirty="0"/>
              <a:t>There has never been a better ten years to look around the corner.</a:t>
            </a:r>
          </a:p>
          <a:p>
            <a:pPr marL="0" indent="0">
              <a:buNone/>
            </a:pP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3EC"/>
        </a:solidFill>
        <a:effectLst/>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102B3F"/>
          </a:solidFill>
          <a:ln w="12700">
            <a:solidFill>
              <a:srgbClr val="102B3F"/>
            </a:solidFill>
            <a:prstDash val="solid"/>
          </a:ln>
        </p:spPr>
        <p:txBody>
          <a:bodyPr/>
          <a:lstStyle/>
          <a:p>
            <a:endParaRPr lang="en-US"/>
          </a:p>
        </p:txBody>
      </p:sp>
      <p:sp>
        <p:nvSpPr>
          <p:cNvPr id="3" name="Text 1"/>
          <p:cNvSpPr/>
          <p:nvPr/>
        </p:nvSpPr>
        <p:spPr>
          <a:xfrm>
            <a:off x="502920" y="6556248"/>
            <a:ext cx="4754880" cy="164592"/>
          </a:xfrm>
          <a:prstGeom prst="rect">
            <a:avLst/>
          </a:prstGeom>
          <a:noFill/>
          <a:ln/>
        </p:spPr>
        <p:txBody>
          <a:bodyPr wrap="square" lIns="0" tIns="0" rIns="0" bIns="0" rtlCol="0" anchor="ctr"/>
          <a:lstStyle/>
          <a:p>
            <a:pPr marL="0" indent="0">
              <a:buNone/>
            </a:pPr>
            <a:r>
              <a:rPr lang="en-US" sz="900" b="1" kern="0" spc="160" dirty="0">
                <a:solidFill>
                  <a:srgbClr val="FFFFFF"/>
                </a:solidFill>
                <a:latin typeface="Aptos" pitchFamily="34" charset="0"/>
                <a:ea typeface="Aptos" pitchFamily="34" charset="-122"/>
                <a:cs typeface="Aptos" pitchFamily="34" charset="-120"/>
              </a:rPr>
              <a:t>SEEING AROUND THE CORNER</a:t>
            </a:r>
            <a:endParaRPr lang="en-US" sz="900" dirty="0"/>
          </a:p>
        </p:txBody>
      </p:sp>
      <p:sp>
        <p:nvSpPr>
          <p:cNvPr id="4" name="Text 2"/>
          <p:cNvSpPr/>
          <p:nvPr/>
        </p:nvSpPr>
        <p:spPr>
          <a:xfrm>
            <a:off x="9875520" y="6556248"/>
            <a:ext cx="1783080" cy="164592"/>
          </a:xfrm>
          <a:prstGeom prst="rect">
            <a:avLst/>
          </a:prstGeom>
          <a:noFill/>
          <a:ln/>
        </p:spPr>
        <p:txBody>
          <a:bodyPr wrap="square" lIns="0" tIns="0" rIns="0" bIns="0" rtlCol="0" anchor="ctr"/>
          <a:lstStyle/>
          <a:p>
            <a:pPr marL="0" indent="0" algn="r">
              <a:buNone/>
            </a:pPr>
            <a:r>
              <a:rPr lang="en-US" sz="800" kern="0" spc="120" dirty="0">
                <a:solidFill>
                  <a:srgbClr val="DCE6EB"/>
                </a:solidFill>
                <a:latin typeface="Aptos" pitchFamily="34" charset="0"/>
                <a:ea typeface="Aptos" pitchFamily="34" charset="-122"/>
                <a:cs typeface="Aptos" pitchFamily="34" charset="-120"/>
              </a:rPr>
              <a:t>TODD BEETCHER</a:t>
            </a:r>
            <a:endParaRPr lang="en-US" sz="800" dirty="0"/>
          </a:p>
        </p:txBody>
      </p:sp>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58368" y="658368"/>
            <a:ext cx="5577840" cy="2240280"/>
          </a:xfrm>
          <a:prstGeom prst="rect">
            <a:avLst/>
          </a:prstGeom>
          <a:noFill/>
          <a:ln/>
        </p:spPr>
        <p:txBody>
          <a:bodyPr wrap="square" lIns="0" tIns="0" rIns="0" bIns="0" rtlCol="0" anchor="ctr">
            <a:normAutofit/>
          </a:bodyPr>
          <a:lstStyle/>
          <a:p>
            <a:pPr marL="0" indent="0">
              <a:buNone/>
            </a:pPr>
            <a:r>
              <a:rPr lang="en-US" sz="3800" b="1" dirty="0">
                <a:solidFill>
                  <a:srgbClr val="102B3F"/>
                </a:solidFill>
                <a:latin typeface="Aptos Display" pitchFamily="34" charset="0"/>
                <a:ea typeface="Aptos Display" pitchFamily="34" charset="-122"/>
                <a:cs typeface="Aptos Display" pitchFamily="34" charset="-120"/>
              </a:rPr>
              <a:t>SEEING</a:t>
            </a:r>
            <a:endParaRPr lang="en-US" sz="3800" dirty="0"/>
          </a:p>
          <a:p>
            <a:pPr marL="0" indent="0">
              <a:buNone/>
            </a:pPr>
            <a:r>
              <a:rPr lang="en-US" sz="3800" b="1" dirty="0">
                <a:solidFill>
                  <a:srgbClr val="102B3F"/>
                </a:solidFill>
                <a:latin typeface="Aptos Display" pitchFamily="34" charset="0"/>
                <a:ea typeface="Aptos Display" pitchFamily="34" charset="-122"/>
                <a:cs typeface="Aptos Display" pitchFamily="34" charset="-120"/>
              </a:rPr>
              <a:t>AROUND THE</a:t>
            </a:r>
            <a:endParaRPr lang="en-US" sz="3800" dirty="0"/>
          </a:p>
          <a:p>
            <a:pPr marL="0" indent="0">
              <a:buNone/>
            </a:pPr>
            <a:r>
              <a:rPr lang="en-US" sz="3800" b="1" dirty="0">
                <a:solidFill>
                  <a:srgbClr val="102B3F"/>
                </a:solidFill>
                <a:latin typeface="Aptos Display" pitchFamily="34" charset="0"/>
                <a:ea typeface="Aptos Display" pitchFamily="34" charset="-122"/>
                <a:cs typeface="Aptos Display" pitchFamily="34" charset="-120"/>
              </a:rPr>
              <a:t>CORNER</a:t>
            </a:r>
            <a:endParaRPr lang="en-US" sz="3800" dirty="0"/>
          </a:p>
        </p:txBody>
      </p:sp>
      <p:sp>
        <p:nvSpPr>
          <p:cNvPr id="3" name="Shape 1"/>
          <p:cNvSpPr/>
          <p:nvPr/>
        </p:nvSpPr>
        <p:spPr>
          <a:xfrm>
            <a:off x="6510528" y="868680"/>
            <a:ext cx="0" cy="4526280"/>
          </a:xfrm>
          <a:prstGeom prst="line">
            <a:avLst/>
          </a:prstGeom>
          <a:noFill/>
          <a:ln w="38100">
            <a:solidFill>
              <a:srgbClr val="9C5A35"/>
            </a:solidFill>
            <a:prstDash val="solid"/>
          </a:ln>
        </p:spPr>
        <p:txBody>
          <a:bodyPr/>
          <a:lstStyle/>
          <a:p>
            <a:endParaRPr lang="en-US"/>
          </a:p>
        </p:txBody>
      </p:sp>
      <p:sp>
        <p:nvSpPr>
          <p:cNvPr id="4" name="Text 2"/>
          <p:cNvSpPr/>
          <p:nvPr/>
        </p:nvSpPr>
        <p:spPr>
          <a:xfrm>
            <a:off x="6903720" y="1051560"/>
            <a:ext cx="4434840" cy="2514600"/>
          </a:xfrm>
          <a:prstGeom prst="rect">
            <a:avLst/>
          </a:prstGeom>
          <a:noFill/>
          <a:ln/>
        </p:spPr>
        <p:txBody>
          <a:bodyPr wrap="square" lIns="254" tIns="254" rIns="254" bIns="254" rtlCol="0" anchor="ctr">
            <a:normAutofit/>
          </a:bodyPr>
          <a:lstStyle/>
          <a:p>
            <a:pPr marL="0" indent="0">
              <a:buNone/>
            </a:pPr>
            <a:r>
              <a:rPr lang="en-US" sz="2500" dirty="0">
                <a:solidFill>
                  <a:srgbClr val="1C252B"/>
                </a:solidFill>
                <a:latin typeface="Aptos Display" pitchFamily="34" charset="0"/>
                <a:ea typeface="Aptos Display" pitchFamily="34" charset="-122"/>
                <a:cs typeface="Aptos Display" pitchFamily="34" charset="-120"/>
              </a:rPr>
              <a:t>The collision of advancing technology with evolving human behavior and rituals creates moments of opportunity for innovation.</a:t>
            </a:r>
            <a:endParaRPr lang="en-US" sz="2500" dirty="0"/>
          </a:p>
        </p:txBody>
      </p:sp>
      <p:sp>
        <p:nvSpPr>
          <p:cNvPr id="5" name="Shape 3"/>
          <p:cNvSpPr/>
          <p:nvPr/>
        </p:nvSpPr>
        <p:spPr>
          <a:xfrm rot="600000">
            <a:off x="914400" y="4160520"/>
            <a:ext cx="2194560" cy="1417320"/>
          </a:xfrm>
          <a:prstGeom prst="arc">
            <a:avLst/>
          </a:prstGeom>
          <a:solidFill>
            <a:srgbClr val="F6F3EC">
              <a:alpha val="0"/>
            </a:srgbClr>
          </a:solidFill>
          <a:ln w="25400">
            <a:solidFill>
              <a:srgbClr val="2C607C">
                <a:alpha val="70000"/>
              </a:srgbClr>
            </a:solidFill>
            <a:prstDash val="solid"/>
          </a:ln>
        </p:spPr>
        <p:txBody>
          <a:bodyPr/>
          <a:lstStyle/>
          <a:p>
            <a:endParaRPr lang="en-US"/>
          </a:p>
        </p:txBody>
      </p:sp>
      <p:sp>
        <p:nvSpPr>
          <p:cNvPr id="6" name="Shape 4"/>
          <p:cNvSpPr/>
          <p:nvPr/>
        </p:nvSpPr>
        <p:spPr>
          <a:xfrm rot="11400000">
            <a:off x="2926080" y="4114800"/>
            <a:ext cx="2194560" cy="1417320"/>
          </a:xfrm>
          <a:prstGeom prst="arc">
            <a:avLst/>
          </a:prstGeom>
          <a:solidFill>
            <a:srgbClr val="F6F3EC">
              <a:alpha val="0"/>
            </a:srgbClr>
          </a:solidFill>
          <a:ln w="25400">
            <a:solidFill>
              <a:srgbClr val="4C7C82">
                <a:alpha val="70000"/>
              </a:srgbClr>
            </a:solidFill>
            <a:prstDash val="solid"/>
          </a:ln>
        </p:spPr>
        <p:txBody>
          <a:bodyPr/>
          <a:lstStyle/>
          <a:p>
            <a:endParaRPr lang="en-US"/>
          </a:p>
        </p:txBody>
      </p:sp>
      <p:sp>
        <p:nvSpPr>
          <p:cNvPr id="7" name="Shape 5"/>
          <p:cNvSpPr/>
          <p:nvPr/>
        </p:nvSpPr>
        <p:spPr>
          <a:xfrm>
            <a:off x="2816352" y="4709160"/>
            <a:ext cx="164592" cy="164592"/>
          </a:xfrm>
          <a:prstGeom prst="ellipse">
            <a:avLst/>
          </a:prstGeom>
          <a:solidFill>
            <a:srgbClr val="9C5A35"/>
          </a:solidFill>
          <a:ln w="12700">
            <a:solidFill>
              <a:srgbClr val="9C5A35"/>
            </a:solidFill>
            <a:prstDash val="solid"/>
          </a:ln>
        </p:spPr>
        <p:txBody>
          <a:bodyPr/>
          <a:lstStyle/>
          <a:p>
            <a:endParaRPr lang="en-US"/>
          </a:p>
        </p:txBody>
      </p:sp>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1</a:t>
            </a:fld>
            <a:endParaRPr lang="en-US"/>
          </a:p>
        </p:txBody>
      </p:sp>
    </p:spTree>
    <p:extLst>
      <p:ext uri="{BB962C8B-B14F-4D97-AF65-F5344CB8AC3E}">
        <p14:creationId xmlns:p14="http://schemas.microsoft.com/office/powerpoint/2010/main" val="3117492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438912"/>
            <a:ext cx="11064240" cy="502920"/>
          </a:xfrm>
          <a:prstGeom prst="rect">
            <a:avLst/>
          </a:prstGeom>
          <a:noFill/>
          <a:ln/>
        </p:spPr>
        <p:txBody>
          <a:bodyPr wrap="square" lIns="0" tIns="0" rIns="0" bIns="0" rtlCol="0" anchor="ctr"/>
          <a:lstStyle/>
          <a:p>
            <a:pPr marL="0" indent="0">
              <a:buNone/>
            </a:pPr>
            <a:r>
              <a:rPr lang="en-US" sz="2800" b="1" dirty="0">
                <a:solidFill>
                  <a:srgbClr val="102B3F"/>
                </a:solidFill>
                <a:latin typeface="Aptos Display" pitchFamily="34" charset="0"/>
                <a:ea typeface="Aptos Display" pitchFamily="34" charset="-122"/>
                <a:cs typeface="Aptos Display" pitchFamily="34" charset="-120"/>
              </a:rPr>
              <a:t>FORREST NORROD</a:t>
            </a:r>
            <a:endParaRPr lang="en-US" sz="2800" dirty="0"/>
          </a:p>
        </p:txBody>
      </p:sp>
      <p:sp>
        <p:nvSpPr>
          <p:cNvPr id="3" name="Shape 1"/>
          <p:cNvSpPr/>
          <p:nvPr/>
        </p:nvSpPr>
        <p:spPr>
          <a:xfrm>
            <a:off x="658368" y="1325880"/>
            <a:ext cx="3340100" cy="4526280"/>
          </a:xfrm>
          <a:prstGeom prst="rect">
            <a:avLst/>
          </a:prstGeom>
          <a:solidFill>
            <a:srgbClr val="E2E6E5">
              <a:alpha val="85000"/>
            </a:srgbClr>
          </a:solidFill>
          <a:ln w="19050">
            <a:solidFill>
              <a:srgbClr val="93A2A6"/>
            </a:solidFill>
            <a:prstDash val="solid"/>
          </a:ln>
        </p:spPr>
        <p:txBody>
          <a:bodyPr/>
          <a:lstStyle/>
          <a:p>
            <a:endParaRPr/>
          </a:p>
        </p:txBody>
      </p:sp>
      <p:sp>
        <p:nvSpPr>
          <p:cNvPr id="5" name="Text 3"/>
          <p:cNvSpPr/>
          <p:nvPr/>
        </p:nvSpPr>
        <p:spPr>
          <a:xfrm>
            <a:off x="4445000" y="1397000"/>
            <a:ext cx="3810000" cy="381000"/>
          </a:xfrm>
          <a:prstGeom prst="rect">
            <a:avLst/>
          </a:prstGeom>
          <a:noFill/>
          <a:ln/>
        </p:spPr>
        <p:txBody>
          <a:bodyPr wrap="square" lIns="0" tIns="0" rIns="0" bIns="0" rtlCol="0" anchor="ctr"/>
          <a:lstStyle/>
          <a:p>
            <a:pPr marL="0" indent="0">
              <a:buNone/>
            </a:pPr>
            <a:r>
              <a:rPr lang="en-US" sz="2400" b="1" dirty="0">
                <a:solidFill>
                  <a:srgbClr val="102B3F"/>
                </a:solidFill>
              </a:rPr>
              <a:t>CYRIX</a:t>
            </a:r>
            <a:endParaRPr lang="en-US" sz="2400" dirty="0"/>
          </a:p>
        </p:txBody>
      </p:sp>
      <p:sp>
        <p:nvSpPr>
          <p:cNvPr id="6" name="Shape 4"/>
          <p:cNvSpPr/>
          <p:nvPr/>
        </p:nvSpPr>
        <p:spPr>
          <a:xfrm>
            <a:off x="4635500" y="2489200"/>
            <a:ext cx="0" cy="406400"/>
          </a:xfrm>
          <a:prstGeom prst="line">
            <a:avLst/>
          </a:prstGeom>
          <a:noFill/>
          <a:ln w="31750">
            <a:solidFill>
              <a:srgbClr val="9C5A35"/>
            </a:solidFill>
            <a:prstDash val="solid"/>
            <a:headEnd type="none"/>
            <a:tailEnd type="triangle"/>
          </a:ln>
        </p:spPr>
        <p:txBody>
          <a:bodyPr/>
          <a:lstStyle/>
          <a:p>
            <a:endParaRPr lang="en-US"/>
          </a:p>
        </p:txBody>
      </p:sp>
      <p:sp>
        <p:nvSpPr>
          <p:cNvPr id="7" name="Text 5"/>
          <p:cNvSpPr/>
          <p:nvPr/>
        </p:nvSpPr>
        <p:spPr>
          <a:xfrm>
            <a:off x="4445000" y="3048000"/>
            <a:ext cx="3810000" cy="381000"/>
          </a:xfrm>
          <a:prstGeom prst="rect">
            <a:avLst/>
          </a:prstGeom>
          <a:noFill/>
          <a:ln/>
        </p:spPr>
        <p:txBody>
          <a:bodyPr wrap="square" lIns="0" tIns="0" rIns="0" bIns="0" rtlCol="0" anchor="ctr"/>
          <a:lstStyle/>
          <a:p>
            <a:pPr marL="0" indent="0">
              <a:buNone/>
            </a:pPr>
            <a:r>
              <a:rPr lang="en-US" sz="2400" b="1" dirty="0">
                <a:solidFill>
                  <a:srgbClr val="102B3F"/>
                </a:solidFill>
              </a:rPr>
              <a:t>DELL</a:t>
            </a:r>
            <a:endParaRPr lang="en-US" sz="2400" dirty="0"/>
          </a:p>
        </p:txBody>
      </p:sp>
      <p:sp>
        <p:nvSpPr>
          <p:cNvPr id="8" name="Text 6"/>
          <p:cNvSpPr/>
          <p:nvPr/>
        </p:nvSpPr>
        <p:spPr>
          <a:xfrm>
            <a:off x="4356100" y="3454400"/>
            <a:ext cx="3810000" cy="584200"/>
          </a:xfrm>
          <a:prstGeom prst="rect">
            <a:avLst/>
          </a:prstGeom>
          <a:noFill/>
          <a:ln/>
        </p:spPr>
        <p:txBody>
          <a:bodyPr wrap="square" lIns="0" tIns="0" rIns="0" bIns="0" rtlCol="0" anchor="ctr"/>
          <a:lstStyle/>
          <a:p>
            <a:pPr marL="0" indent="0">
              <a:buNone/>
            </a:pPr>
            <a:r>
              <a:rPr lang="en-US" sz="1400" dirty="0">
                <a:solidFill>
                  <a:srgbClr val="33414A"/>
                </a:solidFill>
              </a:rPr>
              <a:t>VP &amp; GM, Server Business</a:t>
            </a:r>
          </a:p>
          <a:p>
            <a:pPr marL="0" indent="0">
              <a:spcBef>
                <a:spcPts val="200"/>
              </a:spcBef>
              <a:buNone/>
            </a:pPr>
            <a:r>
              <a:rPr lang="en-US" sz="1400" b="1" dirty="0">
                <a:solidFill>
                  <a:srgbClr val="B4531A"/>
                </a:solidFill>
              </a:rPr>
              <a:t>Reported to Michael Dell ~10 years</a:t>
            </a:r>
          </a:p>
        </p:txBody>
      </p:sp>
      <p:sp>
        <p:nvSpPr>
          <p:cNvPr id="9" name="Shape 7"/>
          <p:cNvSpPr/>
          <p:nvPr/>
        </p:nvSpPr>
        <p:spPr>
          <a:xfrm>
            <a:off x="4635500" y="4140200"/>
            <a:ext cx="0" cy="406400"/>
          </a:xfrm>
          <a:prstGeom prst="line">
            <a:avLst/>
          </a:prstGeom>
          <a:noFill/>
          <a:ln w="31750">
            <a:solidFill>
              <a:srgbClr val="9C5A35"/>
            </a:solidFill>
            <a:prstDash val="solid"/>
            <a:tailEnd type="triangle"/>
          </a:ln>
        </p:spPr>
        <p:txBody>
          <a:bodyPr/>
          <a:lstStyle/>
          <a:p>
            <a:endParaRPr lang="en-US"/>
          </a:p>
        </p:txBody>
      </p:sp>
      <p:sp>
        <p:nvSpPr>
          <p:cNvPr id="10" name="Text 8"/>
          <p:cNvSpPr/>
          <p:nvPr/>
        </p:nvSpPr>
        <p:spPr>
          <a:xfrm>
            <a:off x="4445000" y="4648200"/>
            <a:ext cx="3810000" cy="381000"/>
          </a:xfrm>
          <a:prstGeom prst="rect">
            <a:avLst/>
          </a:prstGeom>
          <a:noFill/>
          <a:ln/>
        </p:spPr>
        <p:txBody>
          <a:bodyPr wrap="square" lIns="0" tIns="0" rIns="0" bIns="0" rtlCol="0" anchor="ctr"/>
          <a:lstStyle/>
          <a:p>
            <a:pPr marL="0" indent="0">
              <a:buNone/>
            </a:pPr>
            <a:r>
              <a:rPr lang="en-US" sz="2400" b="1" dirty="0">
                <a:solidFill>
                  <a:srgbClr val="102B3F"/>
                </a:solidFill>
              </a:rPr>
              <a:t>AMD</a:t>
            </a:r>
            <a:endParaRPr lang="en-US" sz="2400" dirty="0"/>
          </a:p>
        </p:txBody>
      </p:sp>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2</a:t>
            </a:fld>
            <a:endParaRPr lang="en-US"/>
          </a:p>
        </p:txBody>
      </p:sp>
      <p:pic>
        <p:nvPicPr>
          <p:cNvPr id="4" name="Picture 3">
            <a:extLst>
              <a:ext uri="{FF2B5EF4-FFF2-40B4-BE49-F238E27FC236}">
                <a16:creationId xmlns:a16="http://schemas.microsoft.com/office/drawing/2014/main" id="{C7C5ADC6-EA7E-A253-241E-0FD6145687D3}"/>
              </a:ext>
            </a:extLst>
          </p:cNvPr>
          <p:cNvPicPr>
            <a:picLocks noChangeAspect="1"/>
          </p:cNvPicPr>
          <p:nvPr/>
        </p:nvPicPr>
        <p:blipFill>
          <a:blip r:embed="rId3"/>
          <a:stretch>
            <a:fillRect/>
          </a:stretch>
        </p:blipFill>
        <p:spPr>
          <a:xfrm>
            <a:off x="658368" y="1325880"/>
            <a:ext cx="3338732" cy="4521200"/>
          </a:xfrm>
          <a:prstGeom prst="rect">
            <a:avLst/>
          </a:prstGeom>
        </p:spPr>
      </p:pic>
      <p:sp>
        <p:nvSpPr>
          <p:cNvPr id="11" name="CapCyrix">
            <a:extLst>
              <a:ext uri="{FF2B5EF4-FFF2-40B4-BE49-F238E27FC236}">
                <a16:creationId xmlns:a16="http://schemas.microsoft.com/office/drawing/2014/main" id="{D26CB639-CFA8-6341-BF98-79D45AAE3981}"/>
              </a:ext>
            </a:extLst>
          </p:cNvPr>
          <p:cNvSpPr txBox="1"/>
          <p:nvPr/>
        </p:nvSpPr>
        <p:spPr>
          <a:xfrm>
            <a:off x="4356100" y="1803400"/>
            <a:ext cx="5588000" cy="584200"/>
          </a:xfrm>
          <a:prstGeom prst="rect">
            <a:avLst/>
          </a:prstGeom>
          <a:noFill/>
        </p:spPr>
        <p:txBody>
          <a:bodyPr vertOverflow="overflow" vert="horz" wrap="square" rtlCol="0" anchor="t">
            <a:noAutofit/>
          </a:bodyPr>
          <a:lstStyle/>
          <a:p>
            <a:pPr marL="0" indent="0">
              <a:buNone/>
            </a:pPr>
            <a:r>
              <a:rPr lang="en-US" sz="1400" dirty="0">
                <a:solidFill>
                  <a:srgbClr val="33414A"/>
                </a:solidFill>
              </a:rPr>
              <a:t>GM, Integrated x86 CPU Business</a:t>
            </a:r>
          </a:p>
          <a:p>
            <a:pPr marL="0" indent="0">
              <a:spcBef>
                <a:spcPts val="200"/>
              </a:spcBef>
              <a:buNone/>
            </a:pPr>
            <a:r>
              <a:rPr lang="en-US" sz="1400" b="1" dirty="0">
                <a:solidFill>
                  <a:srgbClr val="B4531A"/>
                </a:solidFill>
              </a:rPr>
              <a:t>Todd's supervisor</a:t>
            </a:r>
          </a:p>
        </p:txBody>
      </p:sp>
      <p:sp>
        <p:nvSpPr>
          <p:cNvPr id="12" name="CapAMD">
            <a:extLst>
              <a:ext uri="{FF2B5EF4-FFF2-40B4-BE49-F238E27FC236}">
                <a16:creationId xmlns:a16="http://schemas.microsoft.com/office/drawing/2014/main" id="{90616BC1-A605-4041-8CB7-5BF1DE7D9BAC}"/>
              </a:ext>
            </a:extLst>
          </p:cNvPr>
          <p:cNvSpPr txBox="1"/>
          <p:nvPr/>
        </p:nvSpPr>
        <p:spPr>
          <a:xfrm>
            <a:off x="4356100" y="5054600"/>
            <a:ext cx="5588000" cy="584200"/>
          </a:xfrm>
          <a:prstGeom prst="rect">
            <a:avLst/>
          </a:prstGeom>
          <a:noFill/>
        </p:spPr>
        <p:txBody>
          <a:bodyPr vertOverflow="overflow" vert="horz" wrap="square" rtlCol="0" anchor="t">
            <a:noAutofit/>
          </a:bodyPr>
          <a:lstStyle/>
          <a:p>
            <a:pPr marL="0" indent="0">
              <a:buNone/>
            </a:pPr>
            <a:r>
              <a:rPr lang="en-US" sz="1400" dirty="0">
                <a:solidFill>
                  <a:srgbClr val="33414A"/>
                </a:solidFill>
              </a:rPr>
              <a:t>EVP &amp; GM, Data Center Solutions Business Group</a:t>
            </a:r>
          </a:p>
          <a:p>
            <a:pPr marL="0" indent="0">
              <a:spcBef>
                <a:spcPts val="200"/>
              </a:spcBef>
              <a:buNone/>
            </a:pPr>
            <a:r>
              <a:rPr lang="en-US" sz="1400" b="1" dirty="0">
                <a:solidFill>
                  <a:srgbClr val="B4531A"/>
                </a:solidFill>
              </a:rPr>
              <a:t>AMD's #2 - runs AI &amp; datacenter</a:t>
            </a:r>
          </a:p>
        </p:txBody>
      </p:sp>
      <p:sp>
        <p:nvSpPr>
          <p:cNvPr id="401" name="Norrod Track Record"/>
          <p:cNvSpPr txBox="1"/>
          <p:nvPr/>
        </p:nvSpPr>
        <p:spPr>
          <a:xfrm>
            <a:off x="8686800" y="1422400"/>
            <a:ext cx="2946400" cy="4318000"/>
          </a:xfrm>
          <a:prstGeom prst="rect">
            <a:avLst/>
          </a:prstGeom>
          <a:noFill/>
          <a:ln>
            <a:noFill/>
          </a:ln>
        </p:spPr>
        <p:txBody>
          <a:bodyPr wrap="square" lIns="0" tIns="0" rIns="0" bIns="0" anchor="t"/>
          <a:lstStyle/>
          <a:p>
            <a:pPr marL="0" indent="0">
              <a:buNone/>
            </a:pPr>
            <a:r>
              <a:rPr lang="en-US" sz="1400" b="1" spc="80" dirty="0">
                <a:solidFill>
                  <a:srgbClr val="B4531A"/>
                </a:solidFill>
              </a:rPr>
              <a:t>WHERE HE WENT</a:t>
            </a:r>
          </a:p>
          <a:p>
            <a:pPr marL="0" indent="0">
              <a:lnSpc>
                <a:spcPct val="100000"/>
              </a:lnSpc>
              <a:spcBef>
                <a:spcPts val="1250"/>
              </a:spcBef>
              <a:buNone/>
            </a:pPr>
            <a:r>
              <a:rPr lang="en-US" sz="1400" dirty="0">
                <a:solidFill>
                  <a:srgbClr val="33414A"/>
                </a:solidFill>
              </a:rPr>
              <a:t>EVP &amp; GM, Data Center —</a:t>
            </a:r>
            <a:r>
              <a:rPr lang="en-US" sz="1400" b="1" dirty="0">
                <a:solidFill>
                  <a:srgbClr val="102B3F"/>
                </a:solidFill>
              </a:rPr>
              <a:t> AMD</a:t>
            </a:r>
          </a:p>
          <a:p>
            <a:pPr marL="0" indent="0">
              <a:lnSpc>
                <a:spcPct val="100000"/>
              </a:lnSpc>
              <a:spcBef>
                <a:spcPts val="1250"/>
              </a:spcBef>
              <a:buNone/>
            </a:pPr>
            <a:r>
              <a:rPr lang="en-US" sz="1400" dirty="0">
                <a:solidFill>
                  <a:srgbClr val="33414A"/>
                </a:solidFill>
              </a:rPr>
              <a:t>Board of Directors —</a:t>
            </a:r>
            <a:r>
              <a:rPr lang="en-US" sz="1400" b="1" dirty="0">
                <a:solidFill>
                  <a:srgbClr val="102B3F"/>
                </a:solidFill>
              </a:rPr>
              <a:t> Intuit</a:t>
            </a:r>
          </a:p>
          <a:p>
            <a:pPr marL="0" indent="0">
              <a:lnSpc>
                <a:spcPct val="100000"/>
              </a:lnSpc>
              <a:spcBef>
                <a:spcPts val="1250"/>
              </a:spcBef>
              <a:buNone/>
            </a:pPr>
            <a:r>
              <a:rPr lang="en-US" sz="1400" dirty="0">
                <a:solidFill>
                  <a:srgbClr val="33414A"/>
                </a:solidFill>
              </a:rPr>
              <a:t>Board Member —</a:t>
            </a:r>
            <a:r>
              <a:rPr lang="en-US" sz="1400" b="1" dirty="0">
                <a:solidFill>
                  <a:srgbClr val="102B3F"/>
                </a:solidFill>
              </a:rPr>
              <a:t> Intersil</a:t>
            </a:r>
          </a:p>
          <a:p>
            <a:pPr marL="0" indent="0">
              <a:lnSpc>
                <a:spcPct val="100000"/>
              </a:lnSpc>
              <a:spcBef>
                <a:spcPts val="1250"/>
              </a:spcBef>
              <a:buNone/>
            </a:pPr>
            <a:r>
              <a:rPr lang="en-US" sz="1400" dirty="0">
                <a:solidFill>
                  <a:srgbClr val="33414A"/>
                </a:solidFill>
              </a:rPr>
              <a:t>VP &amp; GM, Server Business —</a:t>
            </a:r>
            <a:r>
              <a:rPr lang="en-US" sz="1400" b="1" dirty="0">
                <a:solidFill>
                  <a:srgbClr val="102B3F"/>
                </a:solidFill>
              </a:rPr>
              <a:t> Dell</a:t>
            </a:r>
          </a:p>
          <a:p>
            <a:pPr marL="0" indent="0">
              <a:lnSpc>
                <a:spcPct val="100000"/>
              </a:lnSpc>
              <a:spcBef>
                <a:spcPts val="1250"/>
              </a:spcBef>
              <a:buNone/>
            </a:pPr>
            <a:r>
              <a:rPr lang="en-US" sz="1400" dirty="0">
                <a:solidFill>
                  <a:srgbClr val="33414A"/>
                </a:solidFill>
              </a:rPr>
              <a:t>CTO, Client Products —</a:t>
            </a:r>
            <a:r>
              <a:rPr lang="en-US" sz="1400" b="1" dirty="0">
                <a:solidFill>
                  <a:srgbClr val="102B3F"/>
                </a:solidFill>
              </a:rPr>
              <a:t> Dell</a:t>
            </a:r>
          </a:p>
          <a:p>
            <a:pPr marL="0" indent="0">
              <a:lnSpc>
                <a:spcPct val="100000"/>
              </a:lnSpc>
              <a:spcBef>
                <a:spcPts val="1250"/>
              </a:spcBef>
              <a:buNone/>
            </a:pPr>
            <a:r>
              <a:rPr lang="en-US" sz="1400" dirty="0">
                <a:solidFill>
                  <a:srgbClr val="33414A"/>
                </a:solidFill>
              </a:rPr>
              <a:t>GM, x86 CPU —</a:t>
            </a:r>
            <a:r>
              <a:rPr lang="en-US" sz="1400" b="1" dirty="0">
                <a:solidFill>
                  <a:srgbClr val="102B3F"/>
                </a:solidFill>
              </a:rPr>
              <a:t> National Semi</a:t>
            </a:r>
          </a:p>
          <a:p>
            <a:pPr marL="0" indent="0">
              <a:lnSpc>
                <a:spcPct val="100000"/>
              </a:lnSpc>
              <a:spcBef>
                <a:spcPts val="1250"/>
              </a:spcBef>
              <a:buNone/>
            </a:pPr>
            <a:r>
              <a:rPr lang="en-US" sz="1400" dirty="0">
                <a:solidFill>
                  <a:srgbClr val="33414A"/>
                </a:solidFill>
              </a:rPr>
              <a:t>VLSI Engineer —</a:t>
            </a:r>
            <a:r>
              <a:rPr lang="en-US" sz="1400" b="1" dirty="0">
                <a:solidFill>
                  <a:srgbClr val="102B3F"/>
                </a:solidFill>
              </a:rPr>
              <a:t> Hewlett-Packard</a:t>
            </a:r>
          </a:p>
          <a:p>
            <a:pPr marL="0" indent="0">
              <a:lnSpc>
                <a:spcPct val="100000"/>
              </a:lnSpc>
              <a:spcBef>
                <a:spcPts val="1250"/>
              </a:spcBef>
              <a:buNone/>
            </a:pPr>
            <a:r>
              <a:rPr lang="en-US" sz="1400" dirty="0">
                <a:solidFill>
                  <a:srgbClr val="33414A"/>
                </a:solidFill>
              </a:rPr>
              <a:t>11 US patents in system design</a:t>
            </a:r>
          </a:p>
          <a:p>
            <a:pPr marL="0" indent="0">
              <a:lnSpc>
                <a:spcPct val="100000"/>
              </a:lnSpc>
              <a:spcBef>
                <a:spcPts val="1250"/>
              </a:spcBef>
              <a:buNone/>
            </a:pPr>
            <a:r>
              <a:rPr lang="en-US" sz="1400" dirty="0">
                <a:solidFill>
                  <a:srgbClr val="33414A"/>
                </a:solidFill>
              </a:rPr>
              <a:t>MS Electrical Eng —</a:t>
            </a:r>
            <a:r>
              <a:rPr lang="en-US" sz="1400" b="1" dirty="0">
                <a:solidFill>
                  <a:srgbClr val="102B3F"/>
                </a:solidFill>
              </a:rPr>
              <a:t> Virginia Tech</a:t>
            </a:r>
          </a:p>
          <a:p>
            <a:pPr marL="0" indent="0">
              <a:lnSpc>
                <a:spcPct val="100000"/>
              </a:lnSpc>
              <a:spcBef>
                <a:spcPts val="1250"/>
              </a:spcBef>
              <a:buNone/>
            </a:pPr>
            <a:r>
              <a:rPr lang="en-US" sz="1400" dirty="0">
                <a:solidFill>
                  <a:srgbClr val="33414A"/>
                </a:solidFill>
              </a:rPr>
              <a:t>30+ years in technology</a:t>
            </a:r>
          </a:p>
        </p:txBody>
      </p:sp>
    </p:spTree>
    <p:extLst>
      <p:ext uri="{BB962C8B-B14F-4D97-AF65-F5344CB8AC3E}">
        <p14:creationId xmlns:p14="http://schemas.microsoft.com/office/powerpoint/2010/main" val="3296720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438912"/>
            <a:ext cx="11064240" cy="502920"/>
          </a:xfrm>
          <a:prstGeom prst="rect">
            <a:avLst/>
          </a:prstGeom>
          <a:noFill/>
          <a:ln/>
        </p:spPr>
        <p:txBody>
          <a:bodyPr wrap="square" lIns="0" tIns="0" rIns="0" bIns="0" rtlCol="0" anchor="ctr"/>
          <a:lstStyle/>
          <a:p>
            <a:pPr marL="0" indent="0">
              <a:buNone/>
            </a:pPr>
            <a:r>
              <a:rPr lang="en-US" sz="2800" b="1" dirty="0">
                <a:solidFill>
                  <a:srgbClr val="102B3F"/>
                </a:solidFill>
                <a:latin typeface="Aptos Display" pitchFamily="34" charset="0"/>
                <a:ea typeface="Aptos Display" pitchFamily="34" charset="-122"/>
                <a:cs typeface="Aptos Display" pitchFamily="34" charset="-120"/>
              </a:rPr>
              <a:t>CYRIX:  M1 → MEDIAGX</a:t>
            </a:r>
            <a:endParaRPr lang="en-US" sz="2800" dirty="0"/>
          </a:p>
        </p:txBody>
      </p:sp>
      <p:sp>
        <p:nvSpPr>
          <p:cNvPr id="3" name="Text 1"/>
          <p:cNvSpPr/>
          <p:nvPr/>
        </p:nvSpPr>
        <p:spPr>
          <a:xfrm>
            <a:off x="585216" y="987552"/>
            <a:ext cx="10881360" cy="365760"/>
          </a:xfrm>
          <a:prstGeom prst="rect">
            <a:avLst/>
          </a:prstGeom>
          <a:noFill/>
          <a:ln/>
        </p:spPr>
        <p:txBody>
          <a:bodyPr wrap="square" lIns="0" tIns="0" rIns="0" bIns="0" rtlCol="0" anchor="ctr"/>
          <a:lstStyle/>
          <a:p>
            <a:pPr marL="0" indent="0">
              <a:buNone/>
            </a:pPr>
            <a:r>
              <a:rPr lang="en-US" sz="1300" dirty="0">
                <a:solidFill>
                  <a:srgbClr val="65737B"/>
                </a:solidFill>
              </a:rPr>
              <a:t>Great technology. Now what?</a:t>
            </a:r>
            <a:endParaRPr lang="en-US" sz="1300" dirty="0"/>
          </a:p>
        </p:txBody>
      </p:sp>
      <p:sp>
        <p:nvSpPr>
          <p:cNvPr id="4" name="Shape 2"/>
          <p:cNvSpPr/>
          <p:nvPr/>
        </p:nvSpPr>
        <p:spPr>
          <a:xfrm>
            <a:off x="6099048" y="1417320"/>
            <a:ext cx="0" cy="4762500"/>
          </a:xfrm>
          <a:prstGeom prst="line">
            <a:avLst/>
          </a:prstGeom>
          <a:noFill/>
          <a:ln w="15240">
            <a:solidFill>
              <a:srgbClr val="C9D1D3"/>
            </a:solidFill>
            <a:prstDash val="solid"/>
          </a:ln>
        </p:spPr>
        <p:txBody>
          <a:bodyPr/>
          <a:lstStyle/>
          <a:p>
            <a:endParaRPr lang="en-US"/>
          </a:p>
        </p:txBody>
      </p:sp>
      <p:sp>
        <p:nvSpPr>
          <p:cNvPr id="5" name="Text 3"/>
          <p:cNvSpPr/>
          <p:nvPr/>
        </p:nvSpPr>
        <p:spPr>
          <a:xfrm>
            <a:off x="621792" y="1417320"/>
            <a:ext cx="5074920" cy="347472"/>
          </a:xfrm>
          <a:prstGeom prst="rect">
            <a:avLst/>
          </a:prstGeom>
          <a:noFill/>
          <a:ln/>
        </p:spPr>
        <p:txBody>
          <a:bodyPr wrap="square" lIns="0" tIns="0" rIns="0" bIns="0" rtlCol="0" anchor="ctr"/>
          <a:lstStyle/>
          <a:p>
            <a:pPr marL="0" indent="0">
              <a:buNone/>
            </a:pPr>
            <a:r>
              <a:rPr lang="en-US" sz="1800" b="1" dirty="0">
                <a:solidFill>
                  <a:srgbClr val="102B3F"/>
                </a:solidFill>
              </a:rPr>
              <a:t>M1 — PIN-COMPATIBLE x86</a:t>
            </a:r>
            <a:endParaRPr lang="en-US" sz="1800" dirty="0"/>
          </a:p>
        </p:txBody>
      </p:sp>
      <p:sp>
        <p:nvSpPr>
          <p:cNvPr id="6" name="Text 4"/>
          <p:cNvSpPr/>
          <p:nvPr/>
        </p:nvSpPr>
        <p:spPr>
          <a:xfrm>
            <a:off x="6428232" y="1417320"/>
            <a:ext cx="5120640" cy="347472"/>
          </a:xfrm>
          <a:prstGeom prst="rect">
            <a:avLst/>
          </a:prstGeom>
          <a:noFill/>
          <a:ln/>
        </p:spPr>
        <p:txBody>
          <a:bodyPr wrap="square" lIns="0" tIns="0" rIns="0" bIns="0" rtlCol="0" anchor="ctr"/>
          <a:lstStyle/>
          <a:p>
            <a:pPr marL="0" indent="0">
              <a:buNone/>
            </a:pPr>
            <a:r>
              <a:rPr lang="en-US" sz="1800" b="1" dirty="0">
                <a:solidFill>
                  <a:srgbClr val="102B3F"/>
                </a:solidFill>
              </a:rPr>
              <a:t>MEDIAGX — INTEGRATED x86</a:t>
            </a:r>
            <a:endParaRPr lang="en-US" sz="1800" dirty="0"/>
          </a:p>
        </p:txBody>
      </p:sp>
      <p:sp>
        <p:nvSpPr>
          <p:cNvPr id="7" name="Shape 5"/>
          <p:cNvSpPr/>
          <p:nvPr/>
        </p:nvSpPr>
        <p:spPr>
          <a:xfrm>
            <a:off x="2413000" y="2692400"/>
            <a:ext cx="1651000" cy="660400"/>
          </a:xfrm>
          <a:prstGeom prst="roundRect">
            <a:avLst/>
          </a:prstGeom>
          <a:solidFill>
            <a:srgbClr val="2C607C"/>
          </a:solidFill>
          <a:ln w="12700">
            <a:solidFill>
              <a:srgbClr val="2C607C"/>
            </a:solidFill>
            <a:prstDash val="solid"/>
          </a:ln>
        </p:spPr>
        <p:txBody>
          <a:bodyPr/>
          <a:lstStyle/>
          <a:p>
            <a:endParaRPr lang="en-US"/>
          </a:p>
        </p:txBody>
      </p:sp>
      <p:sp>
        <p:nvSpPr>
          <p:cNvPr id="8" name="Text 6"/>
          <p:cNvSpPr/>
          <p:nvPr/>
        </p:nvSpPr>
        <p:spPr>
          <a:xfrm>
            <a:off x="2413000" y="2933700"/>
            <a:ext cx="1651000" cy="177800"/>
          </a:xfrm>
          <a:prstGeom prst="rect">
            <a:avLst/>
          </a:prstGeom>
          <a:noFill/>
          <a:ln/>
        </p:spPr>
        <p:txBody>
          <a:bodyPr wrap="square" lIns="0" tIns="0" rIns="0" bIns="0" rtlCol="0" anchor="ctr"/>
          <a:lstStyle/>
          <a:p>
            <a:pPr marL="0" indent="0" algn="ctr">
              <a:buNone/>
            </a:pPr>
            <a:r>
              <a:rPr lang="en-US" sz="1200" b="1" dirty="0">
                <a:solidFill>
                  <a:srgbClr val="FFFFFF"/>
                </a:solidFill>
              </a:rPr>
              <a:t>x86 Processor</a:t>
            </a:r>
            <a:endParaRPr lang="en-US" sz="1200" dirty="0"/>
          </a:p>
        </p:txBody>
      </p:sp>
      <p:sp>
        <p:nvSpPr>
          <p:cNvPr id="9" name="Shape 7"/>
          <p:cNvSpPr/>
          <p:nvPr/>
        </p:nvSpPr>
        <p:spPr>
          <a:xfrm>
            <a:off x="3238500" y="2349500"/>
            <a:ext cx="0" cy="342900"/>
          </a:xfrm>
          <a:prstGeom prst="line">
            <a:avLst/>
          </a:prstGeom>
          <a:noFill/>
          <a:ln w="19050">
            <a:solidFill>
              <a:srgbClr val="65737B"/>
            </a:solidFill>
            <a:prstDash val="solid"/>
            <a:tailEnd type="triangle"/>
          </a:ln>
        </p:spPr>
        <p:txBody>
          <a:bodyPr/>
          <a:lstStyle/>
          <a:p>
            <a:endParaRPr lang="en-US"/>
          </a:p>
        </p:txBody>
      </p:sp>
      <p:sp>
        <p:nvSpPr>
          <p:cNvPr id="10" name="Shape 8"/>
          <p:cNvSpPr/>
          <p:nvPr/>
        </p:nvSpPr>
        <p:spPr>
          <a:xfrm>
            <a:off x="2476500" y="1841500"/>
            <a:ext cx="1524000" cy="508000"/>
          </a:xfrm>
          <a:prstGeom prst="roundRect">
            <a:avLst/>
          </a:prstGeom>
          <a:solidFill>
            <a:srgbClr val="DDE6E7"/>
          </a:solidFill>
          <a:ln w="12700">
            <a:solidFill>
              <a:srgbClr val="A8B8BC"/>
            </a:solidFill>
            <a:prstDash val="solid"/>
          </a:ln>
        </p:spPr>
        <p:txBody>
          <a:bodyPr/>
          <a:lstStyle/>
          <a:p>
            <a:endParaRPr lang="en-US"/>
          </a:p>
        </p:txBody>
      </p:sp>
      <p:sp>
        <p:nvSpPr>
          <p:cNvPr id="11" name="Text 9"/>
          <p:cNvSpPr/>
          <p:nvPr/>
        </p:nvSpPr>
        <p:spPr>
          <a:xfrm>
            <a:off x="2476500" y="2006600"/>
            <a:ext cx="1524000" cy="177800"/>
          </a:xfrm>
          <a:prstGeom prst="rect">
            <a:avLst/>
          </a:prstGeom>
          <a:noFill/>
          <a:ln/>
        </p:spPr>
        <p:txBody>
          <a:bodyPr wrap="square" lIns="0" tIns="0" rIns="0" bIns="0" rtlCol="0" anchor="ctr"/>
          <a:lstStyle/>
          <a:p>
            <a:pPr marL="0" indent="0" algn="ctr">
              <a:buNone/>
            </a:pPr>
            <a:r>
              <a:rPr lang="en-US" sz="1200" dirty="0">
                <a:solidFill>
                  <a:srgbClr val="1C252B"/>
                </a:solidFill>
              </a:rPr>
              <a:t>North Bridge</a:t>
            </a:r>
            <a:endParaRPr lang="en-US" sz="1200" dirty="0"/>
          </a:p>
        </p:txBody>
      </p:sp>
      <p:sp>
        <p:nvSpPr>
          <p:cNvPr id="12" name="Shape 10"/>
          <p:cNvSpPr/>
          <p:nvPr/>
        </p:nvSpPr>
        <p:spPr>
          <a:xfrm>
            <a:off x="2159000" y="3048000"/>
            <a:ext cx="254000" cy="0"/>
          </a:xfrm>
          <a:prstGeom prst="line">
            <a:avLst/>
          </a:prstGeom>
          <a:noFill/>
          <a:ln w="19050">
            <a:solidFill>
              <a:srgbClr val="65737B"/>
            </a:solidFill>
            <a:prstDash val="solid"/>
            <a:tailEnd type="triangle"/>
          </a:ln>
        </p:spPr>
        <p:txBody>
          <a:bodyPr/>
          <a:lstStyle/>
          <a:p>
            <a:endParaRPr lang="en-US"/>
          </a:p>
        </p:txBody>
      </p:sp>
      <p:sp>
        <p:nvSpPr>
          <p:cNvPr id="13" name="Shape 11"/>
          <p:cNvSpPr/>
          <p:nvPr/>
        </p:nvSpPr>
        <p:spPr>
          <a:xfrm>
            <a:off x="4318000" y="2794000"/>
            <a:ext cx="1460500" cy="508000"/>
          </a:xfrm>
          <a:prstGeom prst="roundRect">
            <a:avLst/>
          </a:prstGeom>
          <a:solidFill>
            <a:srgbClr val="DDE6E7"/>
          </a:solidFill>
          <a:ln w="12700">
            <a:solidFill>
              <a:srgbClr val="A8B8BC"/>
            </a:solidFill>
            <a:prstDash val="solid"/>
          </a:ln>
        </p:spPr>
        <p:txBody>
          <a:bodyPr/>
          <a:lstStyle/>
          <a:p>
            <a:endParaRPr lang="en-US"/>
          </a:p>
        </p:txBody>
      </p:sp>
      <p:sp>
        <p:nvSpPr>
          <p:cNvPr id="14" name="Text 12"/>
          <p:cNvSpPr/>
          <p:nvPr/>
        </p:nvSpPr>
        <p:spPr>
          <a:xfrm>
            <a:off x="4318000" y="2959100"/>
            <a:ext cx="1460500" cy="177800"/>
          </a:xfrm>
          <a:prstGeom prst="rect">
            <a:avLst/>
          </a:prstGeom>
          <a:noFill/>
          <a:ln/>
        </p:spPr>
        <p:txBody>
          <a:bodyPr wrap="square" lIns="0" tIns="0" rIns="0" bIns="0" rtlCol="0" anchor="ctr"/>
          <a:lstStyle/>
          <a:p>
            <a:pPr marL="0" indent="0" algn="ctr">
              <a:buNone/>
            </a:pPr>
            <a:r>
              <a:rPr lang="en-US" sz="1200" dirty="0">
                <a:solidFill>
                  <a:srgbClr val="1C252B"/>
                </a:solidFill>
              </a:rPr>
              <a:t>South Bridge</a:t>
            </a:r>
            <a:endParaRPr lang="en-US" sz="1200" dirty="0"/>
          </a:p>
        </p:txBody>
      </p:sp>
      <p:sp>
        <p:nvSpPr>
          <p:cNvPr id="15" name="Shape 13"/>
          <p:cNvSpPr/>
          <p:nvPr/>
        </p:nvSpPr>
        <p:spPr>
          <a:xfrm>
            <a:off x="4064000" y="3048000"/>
            <a:ext cx="254000" cy="0"/>
          </a:xfrm>
          <a:prstGeom prst="line">
            <a:avLst/>
          </a:prstGeom>
          <a:noFill/>
          <a:ln w="19050">
            <a:solidFill>
              <a:srgbClr val="65737B"/>
            </a:solidFill>
            <a:prstDash val="solid"/>
            <a:tailEnd type="triangle"/>
          </a:ln>
        </p:spPr>
        <p:txBody>
          <a:bodyPr/>
          <a:lstStyle/>
          <a:p>
            <a:endParaRPr lang="en-US"/>
          </a:p>
        </p:txBody>
      </p:sp>
      <p:sp>
        <p:nvSpPr>
          <p:cNvPr id="16" name="Shape 14"/>
          <p:cNvSpPr/>
          <p:nvPr/>
        </p:nvSpPr>
        <p:spPr>
          <a:xfrm>
            <a:off x="698500" y="2794000"/>
            <a:ext cx="1460500" cy="508000"/>
          </a:xfrm>
          <a:prstGeom prst="roundRect">
            <a:avLst/>
          </a:prstGeom>
          <a:solidFill>
            <a:srgbClr val="DDE6E7"/>
          </a:solidFill>
          <a:ln w="12700">
            <a:solidFill>
              <a:srgbClr val="A8B8BC"/>
            </a:solidFill>
            <a:prstDash val="solid"/>
          </a:ln>
        </p:spPr>
        <p:txBody>
          <a:bodyPr/>
          <a:lstStyle/>
          <a:p>
            <a:endParaRPr lang="en-US"/>
          </a:p>
        </p:txBody>
      </p:sp>
      <p:sp>
        <p:nvSpPr>
          <p:cNvPr id="17" name="Text 15"/>
          <p:cNvSpPr/>
          <p:nvPr/>
        </p:nvSpPr>
        <p:spPr>
          <a:xfrm>
            <a:off x="698500" y="2959100"/>
            <a:ext cx="1460500" cy="177800"/>
          </a:xfrm>
          <a:prstGeom prst="rect">
            <a:avLst/>
          </a:prstGeom>
          <a:noFill/>
          <a:ln/>
        </p:spPr>
        <p:txBody>
          <a:bodyPr wrap="square" lIns="0" tIns="0" rIns="0" bIns="0" rtlCol="0" anchor="ctr"/>
          <a:lstStyle/>
          <a:p>
            <a:pPr marL="0" indent="0" algn="ctr">
              <a:buNone/>
            </a:pPr>
            <a:r>
              <a:rPr lang="en-US" sz="1200" dirty="0">
                <a:solidFill>
                  <a:srgbClr val="1C252B"/>
                </a:solidFill>
              </a:rPr>
              <a:t>Super I/O</a:t>
            </a:r>
            <a:endParaRPr lang="en-US" sz="1200" dirty="0"/>
          </a:p>
        </p:txBody>
      </p:sp>
      <p:sp>
        <p:nvSpPr>
          <p:cNvPr id="18" name="Shape 16"/>
          <p:cNvSpPr/>
          <p:nvPr/>
        </p:nvSpPr>
        <p:spPr>
          <a:xfrm>
            <a:off x="6604000" y="2476500"/>
            <a:ext cx="3048000" cy="1143000"/>
          </a:xfrm>
          <a:prstGeom prst="roundRect">
            <a:avLst/>
          </a:prstGeom>
          <a:solidFill>
            <a:srgbClr val="2C607C"/>
          </a:solidFill>
          <a:ln w="12700">
            <a:solidFill>
              <a:srgbClr val="2C607C"/>
            </a:solidFill>
            <a:prstDash val="solid"/>
          </a:ln>
        </p:spPr>
        <p:txBody>
          <a:bodyPr/>
          <a:lstStyle/>
          <a:p>
            <a:endParaRPr lang="en-US"/>
          </a:p>
        </p:txBody>
      </p:sp>
      <p:sp>
        <p:nvSpPr>
          <p:cNvPr id="19" name="Text 17"/>
          <p:cNvSpPr/>
          <p:nvPr/>
        </p:nvSpPr>
        <p:spPr>
          <a:xfrm>
            <a:off x="6781800" y="2679700"/>
            <a:ext cx="2692400" cy="254000"/>
          </a:xfrm>
          <a:prstGeom prst="rect">
            <a:avLst/>
          </a:prstGeom>
          <a:noFill/>
          <a:ln/>
        </p:spPr>
        <p:txBody>
          <a:bodyPr wrap="square" lIns="0" tIns="0" rIns="0" bIns="0" rtlCol="0" anchor="ctr"/>
          <a:lstStyle/>
          <a:p>
            <a:pPr marL="0" indent="0" algn="ctr">
              <a:buNone/>
            </a:pPr>
            <a:r>
              <a:rPr lang="en-US" sz="1500" b="1" dirty="0">
                <a:solidFill>
                  <a:srgbClr val="FFFFFF"/>
                </a:solidFill>
              </a:rPr>
              <a:t>MediaGX Processor</a:t>
            </a:r>
            <a:endParaRPr lang="en-US" sz="1500" dirty="0"/>
          </a:p>
        </p:txBody>
      </p:sp>
      <p:sp>
        <p:nvSpPr>
          <p:cNvPr id="20" name="Text 18"/>
          <p:cNvSpPr/>
          <p:nvPr/>
        </p:nvSpPr>
        <p:spPr>
          <a:xfrm>
            <a:off x="6845300" y="3048000"/>
            <a:ext cx="2565400" cy="444500"/>
          </a:xfrm>
          <a:prstGeom prst="rect">
            <a:avLst/>
          </a:prstGeom>
          <a:noFill/>
          <a:ln/>
        </p:spPr>
        <p:txBody>
          <a:bodyPr wrap="square" lIns="0" tIns="0" rIns="0" bIns="0" rtlCol="0" anchor="ctr"/>
          <a:lstStyle/>
          <a:p>
            <a:pPr marL="0" indent="0" algn="ctr">
              <a:buNone/>
            </a:pPr>
            <a:r>
              <a:rPr lang="en-US" sz="1100" dirty="0">
                <a:solidFill>
                  <a:srgbClr val="EAF1F3"/>
                </a:solidFill>
              </a:rPr>
              <a:t>North Bridge + Super I/O</a:t>
            </a:r>
            <a:endParaRPr lang="en-US" sz="1100" dirty="0"/>
          </a:p>
          <a:p>
            <a:pPr marL="0" indent="0" algn="ctr">
              <a:buNone/>
            </a:pPr>
            <a:r>
              <a:rPr lang="en-US" sz="1100" dirty="0">
                <a:solidFill>
                  <a:srgbClr val="EAF1F3"/>
                </a:solidFill>
              </a:rPr>
              <a:t>functionality integrated</a:t>
            </a:r>
            <a:endParaRPr lang="en-US" sz="1100" dirty="0"/>
          </a:p>
        </p:txBody>
      </p:sp>
      <p:sp>
        <p:nvSpPr>
          <p:cNvPr id="21" name="Shape 19"/>
          <p:cNvSpPr/>
          <p:nvPr/>
        </p:nvSpPr>
        <p:spPr>
          <a:xfrm>
            <a:off x="9652000" y="3048000"/>
            <a:ext cx="381000" cy="0"/>
          </a:xfrm>
          <a:prstGeom prst="line">
            <a:avLst/>
          </a:prstGeom>
          <a:noFill/>
          <a:ln w="19050">
            <a:solidFill>
              <a:srgbClr val="65737B"/>
            </a:solidFill>
            <a:prstDash val="solid"/>
            <a:tailEnd type="triangle"/>
          </a:ln>
        </p:spPr>
        <p:txBody>
          <a:bodyPr/>
          <a:lstStyle/>
          <a:p>
            <a:endParaRPr lang="en-US"/>
          </a:p>
        </p:txBody>
      </p:sp>
      <p:sp>
        <p:nvSpPr>
          <p:cNvPr id="22" name="Shape 20"/>
          <p:cNvSpPr/>
          <p:nvPr/>
        </p:nvSpPr>
        <p:spPr>
          <a:xfrm>
            <a:off x="10033000" y="2794000"/>
            <a:ext cx="1460500" cy="508000"/>
          </a:xfrm>
          <a:prstGeom prst="roundRect">
            <a:avLst/>
          </a:prstGeom>
          <a:solidFill>
            <a:srgbClr val="DDE6E7"/>
          </a:solidFill>
          <a:ln w="12700">
            <a:solidFill>
              <a:srgbClr val="A8B8BC"/>
            </a:solidFill>
            <a:prstDash val="solid"/>
          </a:ln>
        </p:spPr>
        <p:txBody>
          <a:bodyPr/>
          <a:lstStyle/>
          <a:p>
            <a:endParaRPr lang="en-US"/>
          </a:p>
        </p:txBody>
      </p:sp>
      <p:sp>
        <p:nvSpPr>
          <p:cNvPr id="23" name="Text 21"/>
          <p:cNvSpPr/>
          <p:nvPr/>
        </p:nvSpPr>
        <p:spPr>
          <a:xfrm>
            <a:off x="10033000" y="2959100"/>
            <a:ext cx="1460500" cy="177800"/>
          </a:xfrm>
          <a:prstGeom prst="rect">
            <a:avLst/>
          </a:prstGeom>
          <a:noFill/>
          <a:ln/>
        </p:spPr>
        <p:txBody>
          <a:bodyPr wrap="square" lIns="0" tIns="0" rIns="0" bIns="0" rtlCol="0" anchor="ctr"/>
          <a:lstStyle/>
          <a:p>
            <a:pPr marL="0" indent="0" algn="ctr">
              <a:buNone/>
            </a:pPr>
            <a:r>
              <a:rPr lang="en-US" sz="1200" b="1" dirty="0">
                <a:solidFill>
                  <a:srgbClr val="1C252B"/>
                </a:solidFill>
              </a:rPr>
              <a:t>South Bridge</a:t>
            </a:r>
            <a:endParaRPr lang="en-US" sz="1200" dirty="0"/>
          </a:p>
        </p:txBody>
      </p:sp>
      <p:sp>
        <p:nvSpPr>
          <p:cNvPr id="24" name="Text 22"/>
          <p:cNvSpPr/>
          <p:nvPr/>
        </p:nvSpPr>
        <p:spPr>
          <a:xfrm>
            <a:off x="622300" y="3873500"/>
            <a:ext cx="5143500" cy="2286000"/>
          </a:xfrm>
          <a:prstGeom prst="rect">
            <a:avLst/>
          </a:prstGeom>
          <a:noFill/>
          <a:ln/>
        </p:spPr>
        <p:txBody>
          <a:bodyPr wrap="square" lIns="254" tIns="254" rIns="254" bIns="254" rtlCol="0">
            <a:normAutofit/>
          </a:bodyPr>
          <a:lstStyle/>
          <a:p>
            <a:pPr marL="152400" indent="-152400">
              <a:lnSpc>
                <a:spcPct val="100000"/>
              </a:lnSpc>
              <a:spcBef>
                <a:spcPts val="900"/>
              </a:spcBef>
              <a:buClr>
                <a:srgbClr val="1C252B"/>
              </a:buClr>
              <a:buFont typeface="Arial"/>
              <a:buChar char="•"/>
            </a:pPr>
            <a:r>
              <a:rPr lang="en-US" sz="1700" dirty="0">
                <a:solidFill>
                  <a:srgbClr val="1C252B"/>
                </a:solidFill>
              </a:rPr>
              <a:t>Pin-compatible with Intel</a:t>
            </a:r>
          </a:p>
          <a:p>
            <a:pPr marL="152400" indent="-152400">
              <a:lnSpc>
                <a:spcPct val="100000"/>
              </a:lnSpc>
              <a:spcBef>
                <a:spcPts val="900"/>
              </a:spcBef>
              <a:buClr>
                <a:srgbClr val="1C252B"/>
              </a:buClr>
              <a:buFont typeface="Arial"/>
              <a:buChar char="•"/>
            </a:pPr>
            <a:r>
              <a:rPr lang="en-US" sz="1700" dirty="0">
                <a:solidFill>
                  <a:srgbClr val="1C252B"/>
                </a:solidFill>
              </a:rPr>
              <a:t>Could leverage existing PC platforms</a:t>
            </a:r>
          </a:p>
          <a:p>
            <a:pPr marL="152400" indent="-152400">
              <a:lnSpc>
                <a:spcPct val="100000"/>
              </a:lnSpc>
              <a:spcBef>
                <a:spcPts val="900"/>
              </a:spcBef>
              <a:buClr>
                <a:srgbClr val="1C252B"/>
              </a:buClr>
              <a:buFont typeface="Arial"/>
              <a:buChar char="•"/>
            </a:pPr>
            <a:r>
              <a:rPr lang="en-US" sz="1700" dirty="0">
                <a:solidFill>
                  <a:srgbClr val="1C252B"/>
                </a:solidFill>
              </a:rPr>
              <a:t>Compaq • Gateway • IBM • Dell</a:t>
            </a:r>
          </a:p>
          <a:p>
            <a:pPr marL="152400" indent="-152400">
              <a:lnSpc>
                <a:spcPct val="100000"/>
              </a:lnSpc>
              <a:spcBef>
                <a:spcPts val="900"/>
              </a:spcBef>
              <a:buClr>
                <a:srgbClr val="1C252B"/>
              </a:buClr>
              <a:buFont typeface="Arial"/>
              <a:buChar char="•"/>
            </a:pPr>
            <a:r>
              <a:rPr lang="en-US" sz="1700" dirty="0">
                <a:solidFill>
                  <a:srgbClr val="1C252B"/>
                </a:solidFill>
              </a:rPr>
              <a:t>OEMs used our compatibility as price leverage on Intel</a:t>
            </a:r>
          </a:p>
          <a:p>
            <a:pPr marL="152400" indent="-152400">
              <a:lnSpc>
                <a:spcPct val="100000"/>
              </a:lnSpc>
              <a:spcBef>
                <a:spcPts val="900"/>
              </a:spcBef>
              <a:buClr>
                <a:srgbClr val="9C5A35"/>
              </a:buClr>
              <a:buFont typeface="Arial"/>
              <a:buChar char="•"/>
            </a:pPr>
            <a:r>
              <a:rPr lang="en-US" sz="1600" b="1" dirty="0">
                <a:solidFill>
                  <a:srgbClr val="9C5A35"/>
                </a:solidFill>
              </a:rPr>
              <a:t>Struggled to win sockets</a:t>
            </a:r>
          </a:p>
        </p:txBody>
      </p:sp>
      <p:sp>
        <p:nvSpPr>
          <p:cNvPr id="28" name="Text 26"/>
          <p:cNvSpPr/>
          <p:nvPr/>
        </p:nvSpPr>
        <p:spPr>
          <a:xfrm>
            <a:off x="6426200" y="3873500"/>
            <a:ext cx="5143500" cy="2286000"/>
          </a:xfrm>
          <a:prstGeom prst="rect">
            <a:avLst/>
          </a:prstGeom>
          <a:noFill/>
          <a:ln/>
        </p:spPr>
        <p:txBody>
          <a:bodyPr wrap="square" lIns="254" tIns="254" rIns="254" bIns="254" rtlCol="0">
            <a:normAutofit/>
          </a:bodyPr>
          <a:lstStyle/>
          <a:p>
            <a:pPr marL="152400" indent="-152400">
              <a:lnSpc>
                <a:spcPct val="100000"/>
              </a:lnSpc>
              <a:spcBef>
                <a:spcPts val="900"/>
              </a:spcBef>
              <a:buClr>
                <a:srgbClr val="1C252B"/>
              </a:buClr>
              <a:buFont typeface="Arial"/>
              <a:buChar char="•"/>
            </a:pPr>
            <a:r>
              <a:rPr lang="en-US" sz="1700" dirty="0">
                <a:solidFill>
                  <a:srgbClr val="1C252B"/>
                </a:solidFill>
              </a:rPr>
              <a:t>Not pin-compatible with Intel</a:t>
            </a:r>
          </a:p>
          <a:p>
            <a:pPr marL="152400" indent="-152400">
              <a:lnSpc>
                <a:spcPct val="100000"/>
              </a:lnSpc>
              <a:spcBef>
                <a:spcPts val="900"/>
              </a:spcBef>
              <a:buClr>
                <a:srgbClr val="1C252B"/>
              </a:buClr>
              <a:buFont typeface="Arial"/>
              <a:buChar char="•"/>
            </a:pPr>
            <a:r>
              <a:rPr lang="en-US" sz="1700" dirty="0">
                <a:solidFill>
                  <a:srgbClr val="1C252B"/>
                </a:solidFill>
              </a:rPr>
              <a:t>Smaller footprint • lower power • less heat</a:t>
            </a:r>
          </a:p>
          <a:p>
            <a:pPr marL="152400" indent="-152400">
              <a:lnSpc>
                <a:spcPct val="100000"/>
              </a:lnSpc>
              <a:spcBef>
                <a:spcPts val="900"/>
              </a:spcBef>
              <a:buClr>
                <a:srgbClr val="1C252B"/>
              </a:buClr>
              <a:buFont typeface="Arial"/>
              <a:buChar char="•"/>
            </a:pPr>
            <a:r>
              <a:rPr lang="en-US" sz="1700" dirty="0">
                <a:solidFill>
                  <a:srgbClr val="1C252B"/>
                </a:solidFill>
              </a:rPr>
              <a:t>Significant advantages for portable computing</a:t>
            </a:r>
          </a:p>
          <a:p>
            <a:pPr marL="152400" indent="-152400">
              <a:lnSpc>
                <a:spcPct val="100000"/>
              </a:lnSpc>
              <a:spcBef>
                <a:spcPts val="900"/>
              </a:spcBef>
              <a:buClr>
                <a:srgbClr val="9C5A35"/>
              </a:buClr>
              <a:buFont typeface="Arial"/>
              <a:buChar char="•"/>
            </a:pPr>
            <a:r>
              <a:rPr lang="en-US" sz="1600" b="1" dirty="0">
                <a:solidFill>
                  <a:srgbClr val="9C5A35"/>
                </a:solidFill>
              </a:rPr>
              <a:t>PC companies wouldn’t invest millions building a unique laptop platform around a small single-source supplier</a:t>
            </a:r>
          </a:p>
        </p:txBody>
      </p:sp>
      <p:sp>
        <p:nvSpPr>
          <p:cNvPr id="32"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3</a:t>
            </a:fld>
            <a:endParaRPr lang="en-US"/>
          </a:p>
        </p:txBody>
      </p:sp>
      <p:sp>
        <p:nvSpPr>
          <p:cNvPr id="60" name="Punchline BUPKIS"/>
          <p:cNvSpPr txBox="1"/>
          <p:nvPr/>
        </p:nvSpPr>
        <p:spPr>
          <a:xfrm>
            <a:off x="6426200" y="5664200"/>
            <a:ext cx="5143500" cy="711200"/>
          </a:xfrm>
          <a:prstGeom prst="rect">
            <a:avLst/>
          </a:prstGeom>
          <a:noFill/>
        </p:spPr>
        <p:txBody>
          <a:bodyPr wrap="none" lIns="0" tIns="0" rIns="0" bIns="0" anchor="ctr">
            <a:spAutoFit/>
          </a:bodyPr>
          <a:lstStyle/>
          <a:p>
            <a:pPr marL="0" indent="0" algn="ctr">
              <a:buNone/>
            </a:pPr>
            <a:r>
              <a:rPr lang="en-US" sz="3600" b="1" dirty="0">
                <a:solidFill>
                  <a:srgbClr val="9C5A35"/>
                </a:solidFill>
                <a:latin typeface="Aptos Display" pitchFamily="34" charset="0"/>
              </a:rPr>
              <a:t>BUPKIS</a:t>
            </a:r>
          </a:p>
        </p:txBody>
      </p:sp>
    </p:spTree>
    <p:extLst>
      <p:ext uri="{BB962C8B-B14F-4D97-AF65-F5344CB8AC3E}">
        <p14:creationId xmlns:p14="http://schemas.microsoft.com/office/powerpoint/2010/main" val="250068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 0"/>
          <p:cNvSpPr/>
          <p:nvPr/>
        </p:nvSpPr>
        <p:spPr>
          <a:xfrm>
            <a:off x="571500" y="444500"/>
            <a:ext cx="11061700" cy="508000"/>
          </a:xfrm>
          <a:prstGeom prst="rect">
            <a:avLst/>
          </a:prstGeom>
          <a:noFill/>
          <a:ln>
            <a:noFill/>
          </a:ln>
        </p:spPr>
        <p:txBody>
          <a:bodyPr wrap="square" lIns="0" tIns="0" rIns="0" bIns="0" anchor="t">
            <a:normAutofit/>
          </a:bodyPr>
          <a:lstStyle/>
          <a:p>
            <a:pPr marL="0" indent="0">
              <a:buNone/>
            </a:pPr>
            <a:r>
              <a:rPr lang="en-US" sz="2800" b="1" dirty="0">
                <a:solidFill>
                  <a:srgbClr val="102B3F"/>
                </a:solidFill>
                <a:latin typeface="Aptos Display" pitchFamily="34" charset="0"/>
                <a:ea typeface="Aptos Display" pitchFamily="34" charset="-122"/>
                <a:cs typeface="Aptos Display" pitchFamily="34" charset="-120"/>
              </a:rPr>
              <a:t>1997:  THE FIRST CORNER</a:t>
            </a:r>
          </a:p>
        </p:txBody>
      </p:sp>
      <p:sp>
        <p:nvSpPr>
          <p:cNvPr id="102" name="Text 1"/>
          <p:cNvSpPr/>
          <p:nvPr/>
        </p:nvSpPr>
        <p:spPr>
          <a:xfrm>
            <a:off x="584200" y="990600"/>
            <a:ext cx="10883900" cy="368300"/>
          </a:xfrm>
          <a:prstGeom prst="rect">
            <a:avLst/>
          </a:prstGeom>
          <a:noFill/>
          <a:ln>
            <a:noFill/>
          </a:ln>
        </p:spPr>
        <p:txBody>
          <a:bodyPr wrap="square" lIns="0" tIns="0" rIns="0" bIns="0" anchor="t">
            <a:normAutofit/>
          </a:bodyPr>
          <a:lstStyle/>
          <a:p>
            <a:pPr marL="0" indent="0">
              <a:buNone/>
            </a:pPr>
            <a:r>
              <a:rPr lang="en-US" sz="1600" dirty="0">
                <a:solidFill>
                  <a:srgbClr val="5E6A74"/>
                </a:solidFill>
              </a:rPr>
              <a:t>Watch all the technology advance — </a:t>
            </a:r>
            <a:r>
              <a:rPr lang="en-US" sz="1600" b="1" dirty="0">
                <a:solidFill>
                  <a:srgbClr val="9C5A35"/>
                </a:solidFill>
              </a:rPr>
              <a:t>not just your own.</a:t>
            </a:r>
            <a:r>
              <a:rPr lang="en-US" sz="1600" dirty="0">
                <a:solidFill>
                  <a:srgbClr val="5E6A74"/>
                </a:solidFill>
              </a:rPr>
              <a:t>  Watch the rituals change.</a:t>
            </a:r>
          </a:p>
        </p:txBody>
      </p:sp>
      <p:sp>
        <p:nvSpPr>
          <p:cNvPr id="103" name="Header Left"/>
          <p:cNvSpPr/>
          <p:nvPr/>
        </p:nvSpPr>
        <p:spPr>
          <a:xfrm>
            <a:off x="571500" y="1498600"/>
            <a:ext cx="4762500" cy="533400"/>
          </a:xfrm>
          <a:prstGeom prst="rect">
            <a:avLst/>
          </a:prstGeom>
          <a:solidFill>
            <a:srgbClr val="102B3F"/>
          </a:solidFill>
          <a:ln>
            <a:noFill/>
          </a:ln>
        </p:spPr>
        <p:txBody>
          <a:bodyPr wrap="square" lIns="91440" tIns="45720" rIns="91440" bIns="45720" anchor="ctr">
            <a:normAutofit/>
          </a:bodyPr>
          <a:lstStyle/>
          <a:p>
            <a:pPr marL="0" indent="0" algn="ctr">
              <a:buNone/>
            </a:pPr>
            <a:r>
              <a:rPr lang="en-US" sz="1600" b="1" dirty="0">
                <a:solidFill>
                  <a:srgbClr val="F7F2E6"/>
                </a:solidFill>
              </a:rPr>
              <a:t>THE TECHNOLOGY WAS ADVANCING</a:t>
            </a:r>
          </a:p>
        </p:txBody>
      </p:sp>
      <p:sp>
        <p:nvSpPr>
          <p:cNvPr id="104" name="Panel Left"/>
          <p:cNvSpPr/>
          <p:nvPr/>
        </p:nvSpPr>
        <p:spPr>
          <a:xfrm>
            <a:off x="571500" y="2032000"/>
            <a:ext cx="4762500" cy="2438400"/>
          </a:xfrm>
          <a:prstGeom prst="rect">
            <a:avLst/>
          </a:prstGeom>
          <a:solidFill>
            <a:srgbClr val="FFFFFF"/>
          </a:solidFill>
          <a:ln w="12700">
            <a:solidFill>
              <a:srgbClr val="E4DBCB"/>
            </a:solidFill>
          </a:ln>
        </p:spPr>
        <p:txBody>
          <a:bodyPr wrap="square" lIns="228600" tIns="209550" rIns="200025" bIns="114300" anchor="t">
            <a:normAutofit/>
          </a:bodyPr>
          <a:lstStyle/>
          <a:p>
            <a:pPr marL="152400" indent="-152400">
              <a:lnSpc>
                <a:spcPct val="100000"/>
              </a:lnSpc>
              <a:spcBef>
                <a:spcPts val="1100"/>
              </a:spcBef>
              <a:buClr>
                <a:srgbClr val="1C252B"/>
              </a:buClr>
              <a:buFont typeface="Arial"/>
              <a:buChar char="•"/>
            </a:pPr>
            <a:r>
              <a:rPr lang="en-US" sz="1700" dirty="0">
                <a:solidFill>
                  <a:srgbClr val="1C252B"/>
                </a:solidFill>
              </a:rPr>
              <a:t>Flat panels just invented</a:t>
            </a:r>
          </a:p>
          <a:p>
            <a:pPr marL="152400" indent="-152400">
              <a:lnSpc>
                <a:spcPct val="100000"/>
              </a:lnSpc>
              <a:spcBef>
                <a:spcPts val="1100"/>
              </a:spcBef>
              <a:buClr>
                <a:srgbClr val="1C252B"/>
              </a:buClr>
              <a:buFont typeface="Arial"/>
              <a:buChar char="•"/>
            </a:pPr>
            <a:r>
              <a:rPr lang="en-US" sz="1700" dirty="0">
                <a:solidFill>
                  <a:srgbClr val="1C252B"/>
                </a:solidFill>
              </a:rPr>
              <a:t>Wireless networking emerging — before 802.11</a:t>
            </a:r>
          </a:p>
          <a:p>
            <a:pPr marL="152400" indent="-152400">
              <a:lnSpc>
                <a:spcPct val="100000"/>
              </a:lnSpc>
              <a:spcBef>
                <a:spcPts val="1100"/>
              </a:spcBef>
              <a:buClr>
                <a:srgbClr val="1C252B"/>
              </a:buClr>
              <a:buFont typeface="Arial"/>
              <a:buChar char="•"/>
            </a:pPr>
            <a:r>
              <a:rPr lang="en-US" sz="1700" dirty="0">
                <a:solidFill>
                  <a:srgbClr val="1C252B"/>
                </a:solidFill>
              </a:rPr>
              <a:t>Touch coming online</a:t>
            </a:r>
          </a:p>
          <a:p>
            <a:pPr marL="152400" indent="-152400">
              <a:lnSpc>
                <a:spcPct val="100000"/>
              </a:lnSpc>
              <a:spcBef>
                <a:spcPts val="1100"/>
              </a:spcBef>
              <a:buClr>
                <a:srgbClr val="1C252B"/>
              </a:buClr>
              <a:buFont typeface="Arial"/>
              <a:buChar char="•"/>
            </a:pPr>
            <a:r>
              <a:rPr lang="en-US" sz="1700" dirty="0">
                <a:solidFill>
                  <a:srgbClr val="1C252B"/>
                </a:solidFill>
              </a:rPr>
              <a:t>Embedded software rendering browsers beyond the PC</a:t>
            </a:r>
          </a:p>
        </p:txBody>
      </p:sp>
      <p:sp>
        <p:nvSpPr>
          <p:cNvPr id="105" name="Header Right"/>
          <p:cNvSpPr/>
          <p:nvPr/>
        </p:nvSpPr>
        <p:spPr>
          <a:xfrm>
            <a:off x="6858000" y="1498600"/>
            <a:ext cx="4762500" cy="533400"/>
          </a:xfrm>
          <a:prstGeom prst="rect">
            <a:avLst/>
          </a:prstGeom>
          <a:solidFill>
            <a:srgbClr val="102B3F"/>
          </a:solidFill>
          <a:ln>
            <a:noFill/>
          </a:ln>
        </p:spPr>
        <p:txBody>
          <a:bodyPr wrap="square" lIns="91440" tIns="45720" rIns="91440" bIns="45720" anchor="ctr">
            <a:normAutofit/>
          </a:bodyPr>
          <a:lstStyle/>
          <a:p>
            <a:pPr marL="0" indent="0" algn="ctr">
              <a:buNone/>
            </a:pPr>
            <a:r>
              <a:rPr lang="en-US" sz="1600" b="1" dirty="0">
                <a:solidFill>
                  <a:srgbClr val="F7F2E6"/>
                </a:solidFill>
              </a:rPr>
              <a:t>THE RITUAL WAS CHANGING</a:t>
            </a:r>
          </a:p>
        </p:txBody>
      </p:sp>
      <p:sp>
        <p:nvSpPr>
          <p:cNvPr id="106" name="Panel Right"/>
          <p:cNvSpPr/>
          <p:nvPr/>
        </p:nvSpPr>
        <p:spPr>
          <a:xfrm>
            <a:off x="6858000" y="2032000"/>
            <a:ext cx="4762500" cy="2438400"/>
          </a:xfrm>
          <a:prstGeom prst="rect">
            <a:avLst/>
          </a:prstGeom>
          <a:solidFill>
            <a:srgbClr val="FFFFFF"/>
          </a:solidFill>
          <a:ln w="12700">
            <a:solidFill>
              <a:srgbClr val="E4DBCB"/>
            </a:solidFill>
          </a:ln>
        </p:spPr>
        <p:txBody>
          <a:bodyPr wrap="square" lIns="228600" tIns="209550" rIns="200025" bIns="114300" anchor="t">
            <a:normAutofit/>
          </a:bodyPr>
          <a:lstStyle/>
          <a:p>
            <a:pPr marL="152400" indent="-152400">
              <a:lnSpc>
                <a:spcPct val="100000"/>
              </a:lnSpc>
              <a:spcBef>
                <a:spcPts val="1100"/>
              </a:spcBef>
              <a:buClr>
                <a:srgbClr val="1C252B"/>
              </a:buClr>
              <a:buFont typeface="Arial"/>
              <a:buChar char="•"/>
            </a:pPr>
            <a:r>
              <a:rPr lang="en-US" sz="1700" dirty="0">
                <a:solidFill>
                  <a:srgbClr val="1C252B"/>
                </a:solidFill>
              </a:rPr>
              <a:t>Internet use picking up fast</a:t>
            </a:r>
          </a:p>
          <a:p>
            <a:pPr marL="152400" indent="-152400">
              <a:lnSpc>
                <a:spcPct val="100000"/>
              </a:lnSpc>
              <a:spcBef>
                <a:spcPts val="1100"/>
              </a:spcBef>
              <a:buClr>
                <a:srgbClr val="1C252B"/>
              </a:buClr>
              <a:buFont typeface="Arial"/>
              <a:buChar char="•"/>
            </a:pPr>
            <a:r>
              <a:rPr lang="en-US" sz="1700" dirty="0">
                <a:solidFill>
                  <a:srgbClr val="1C252B"/>
                </a:solidFill>
              </a:rPr>
              <a:t>The web becoming a daily habit, not a task</a:t>
            </a:r>
          </a:p>
          <a:p>
            <a:pPr marL="152400" indent="-152400">
              <a:lnSpc>
                <a:spcPct val="100000"/>
              </a:lnSpc>
              <a:spcBef>
                <a:spcPts val="1100"/>
              </a:spcBef>
              <a:buClr>
                <a:srgbClr val="1C252B"/>
              </a:buClr>
              <a:buFont typeface="Arial"/>
              <a:buChar char="•"/>
            </a:pPr>
            <a:r>
              <a:rPr lang="en-US" sz="1700" dirty="0">
                <a:solidFill>
                  <a:srgbClr val="1C252B"/>
                </a:solidFill>
              </a:rPr>
              <a:t>People wanted it in more places than the desk</a:t>
            </a:r>
          </a:p>
          <a:p>
            <a:pPr marL="152400" indent="-152400">
              <a:lnSpc>
                <a:spcPct val="100000"/>
              </a:lnSpc>
              <a:spcBef>
                <a:spcPts val="1100"/>
              </a:spcBef>
              <a:buClr>
                <a:srgbClr val="1C252B"/>
              </a:buClr>
              <a:buFont typeface="Arial"/>
              <a:buChar char="•"/>
            </a:pPr>
            <a:r>
              <a:rPr lang="en-US" sz="1700" dirty="0">
                <a:solidFill>
                  <a:srgbClr val="1C252B"/>
                </a:solidFill>
              </a:rPr>
              <a:t>Computing still tethered to a desktop</a:t>
            </a:r>
          </a:p>
        </p:txBody>
      </p:sp>
      <p:sp>
        <p:nvSpPr>
          <p:cNvPr id="108" name="Collision Statement"/>
          <p:cNvSpPr/>
          <p:nvPr/>
        </p:nvSpPr>
        <p:spPr>
          <a:xfrm>
            <a:off x="571500" y="5232400"/>
            <a:ext cx="11061700" cy="812800"/>
          </a:xfrm>
          <a:prstGeom prst="rect">
            <a:avLst/>
          </a:prstGeom>
          <a:solidFill>
            <a:srgbClr val="102B3F"/>
          </a:solidFill>
          <a:ln>
            <a:noFill/>
          </a:ln>
        </p:spPr>
        <p:txBody>
          <a:bodyPr wrap="square" lIns="91440" tIns="45720" rIns="91440" bIns="45720" anchor="ctr">
            <a:normAutofit/>
          </a:bodyPr>
          <a:lstStyle/>
          <a:p>
            <a:pPr marL="0" indent="0" algn="ctr">
              <a:buNone/>
            </a:pPr>
            <a:r>
              <a:rPr lang="en-US" sz="2400" b="1" dirty="0">
                <a:solidFill>
                  <a:srgbClr val="F7F2E6"/>
                </a:solidFill>
                <a:latin typeface="Aptos Display" pitchFamily="34" charset="0"/>
                <a:ea typeface="Aptos Display" pitchFamily="34" charset="-122"/>
                <a:cs typeface="Aptos Display" pitchFamily="34" charset="-120"/>
              </a:rPr>
              <a:t>The internet was ready to leave the desk.</a:t>
            </a:r>
          </a:p>
        </p:txBody>
      </p:sp>
      <p:sp>
        <p:nvSpPr>
          <p:cNvPr id="109" name="Collision Burst"/>
          <p:cNvSpPr/>
          <p:nvPr/>
        </p:nvSpPr>
        <p:spPr>
          <a:xfrm>
            <a:off x="5283200" y="2184400"/>
            <a:ext cx="1625600" cy="1625600"/>
          </a:xfrm>
          <a:prstGeom prst="irregularSeal2">
            <a:avLst/>
          </a:prstGeom>
          <a:solidFill>
            <a:srgbClr val="9C5A35"/>
          </a:solidFill>
          <a:ln>
            <a:noFill/>
          </a:ln>
          <a:effectLst>
            <a:outerShdw blurRad="63500" dist="25400" dir="2700000" algn="tl" rotWithShape="0">
              <a:srgbClr val="102B3F">
                <a:alpha val="22000"/>
              </a:srgbClr>
            </a:outerShdw>
          </a:effectLst>
        </p:spPr>
        <p:txBody>
          <a:bodyPr wrap="none" lIns="0" tIns="0" rIns="0" bIns="0" anchor="ctr"/>
          <a:lstStyle/>
          <a:p>
            <a:pPr marL="0" indent="0" algn="ctr">
              <a:buNone/>
            </a:pPr>
            <a:r>
              <a:rPr lang="en-US" sz="2000" b="1" dirty="0">
                <a:solidFill>
                  <a:srgbClr val="F7F2E6"/>
                </a:solidFill>
                <a:latin typeface="Aptos Display" pitchFamily="34" charset="0"/>
                <a:ea typeface="Aptos Display" pitchFamily="34" charset="-122"/>
                <a:cs typeface="Aptos Display" pitchFamily="34" charset="-120"/>
              </a:rPr>
              <a:t>BOOM</a:t>
            </a:r>
          </a:p>
        </p:txBody>
      </p:sp>
    </p:spTree>
    <p:extLst>
      <p:ext uri="{BB962C8B-B14F-4D97-AF65-F5344CB8AC3E}">
        <p14:creationId xmlns:p14="http://schemas.microsoft.com/office/powerpoint/2010/main" val="1502692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013200" y="457200"/>
            <a:ext cx="4165600" cy="5499100"/>
          </a:xfrm>
          <a:prstGeom prst="rect">
            <a:avLst/>
          </a:prstGeom>
          <a:solidFill>
            <a:srgbClr val="E2E6E5">
              <a:alpha val="85000"/>
            </a:srgbClr>
          </a:solidFill>
          <a:ln w="19050">
            <a:solidFill>
              <a:srgbClr val="93A2A6"/>
            </a:solidFill>
            <a:prstDash val="solid"/>
          </a:ln>
        </p:spPr>
        <p:txBody>
          <a:bodyPr/>
          <a:lstStyle/>
          <a:p>
            <a:endParaRPr/>
          </a:p>
        </p:txBody>
      </p:sp>
      <p:sp>
        <p:nvSpPr>
          <p:cNvPr id="4" name="Shape 2"/>
          <p:cNvSpPr/>
          <p:nvPr/>
        </p:nvSpPr>
        <p:spPr>
          <a:xfrm>
            <a:off x="292100" y="2476500"/>
            <a:ext cx="3568700" cy="1460500"/>
          </a:xfrm>
          <a:prstGeom prst="rect">
            <a:avLst/>
          </a:prstGeom>
          <a:solidFill>
            <a:srgbClr val="102B3F">
              <a:alpha val="92000"/>
            </a:srgbClr>
          </a:solidFill>
          <a:ln w="12700">
            <a:solidFill>
              <a:srgbClr val="102B3F">
                <a:alpha val="0"/>
              </a:srgbClr>
            </a:solidFill>
            <a:prstDash val="solid"/>
          </a:ln>
        </p:spPr>
        <p:txBody>
          <a:bodyPr/>
          <a:lstStyle/>
          <a:p>
            <a:endParaRPr lang="en-US"/>
          </a:p>
        </p:txBody>
      </p:sp>
      <p:sp>
        <p:nvSpPr>
          <p:cNvPr id="5" name="Text 3"/>
          <p:cNvSpPr/>
          <p:nvPr/>
        </p:nvSpPr>
        <p:spPr>
          <a:xfrm>
            <a:off x="635000" y="2476500"/>
            <a:ext cx="2870200" cy="1460500"/>
          </a:xfrm>
          <a:prstGeom prst="rect">
            <a:avLst/>
          </a:prstGeom>
          <a:noFill/>
          <a:ln/>
        </p:spPr>
        <p:txBody>
          <a:bodyPr wrap="square" lIns="0" tIns="0" rIns="0" bIns="0" rtlCol="0" anchor="ctr">
            <a:noAutofit/>
          </a:bodyPr>
          <a:lstStyle/>
          <a:p>
            <a:pPr marL="0" indent="0">
              <a:buNone/>
            </a:pPr>
            <a:r>
              <a:rPr lang="en-US" sz="2800" b="1" dirty="0">
                <a:solidFill>
                  <a:srgbClr val="FFFFFF"/>
                </a:solidFill>
              </a:rPr>
              <a:t>Cyrix Conceptual Products Team • 1997–98</a:t>
            </a:r>
            <a:endParaRPr lang="en-US" sz="2800" dirty="0"/>
          </a:p>
        </p:txBody>
      </p:sp>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5</a:t>
            </a:fld>
            <a:endParaRPr lang="en-US"/>
          </a:p>
        </p:txBody>
      </p:sp>
      <p:pic>
        <p:nvPicPr>
          <p:cNvPr id="3" name="Picture 2">
            <a:extLst>
              <a:ext uri="{FF2B5EF4-FFF2-40B4-BE49-F238E27FC236}">
                <a16:creationId xmlns:a16="http://schemas.microsoft.com/office/drawing/2014/main" id="{024B1E58-6AC9-1211-3B8C-BC8097CC1086}"/>
              </a:ext>
            </a:extLst>
          </p:cNvPr>
          <p:cNvPicPr>
            <a:picLocks noChangeAspect="1"/>
          </p:cNvPicPr>
          <p:nvPr/>
        </p:nvPicPr>
        <p:blipFill>
          <a:blip r:embed="rId3"/>
          <a:stretch>
            <a:fillRect/>
          </a:stretch>
        </p:blipFill>
        <p:spPr>
          <a:xfrm>
            <a:off x="4259751" y="507683"/>
            <a:ext cx="3672498" cy="5397500"/>
          </a:xfrm>
          <a:prstGeom prst="rect">
            <a:avLst/>
          </a:prstGeom>
        </p:spPr>
      </p:pic>
      <p:sp>
        <p:nvSpPr>
          <p:cNvPr id="6" name="TeamNames">
            <a:extLst>
              <a:ext uri="{FF2B5EF4-FFF2-40B4-BE49-F238E27FC236}">
                <a16:creationId xmlns:a16="http://schemas.microsoft.com/office/drawing/2014/main" id="{8BDE8E0D-AB6F-FD46-84D7-495D48491E42}"/>
              </a:ext>
            </a:extLst>
          </p:cNvPr>
          <p:cNvSpPr txBox="1"/>
          <p:nvPr/>
        </p:nvSpPr>
        <p:spPr>
          <a:xfrm>
            <a:off x="8534400" y="1422400"/>
            <a:ext cx="3124200" cy="4191000"/>
          </a:xfrm>
          <a:prstGeom prst="rect">
            <a:avLst/>
          </a:prstGeom>
          <a:noFill/>
        </p:spPr>
        <p:txBody>
          <a:bodyPr vertOverflow="overflow" vert="horz" wrap="square" rtlCol="0" anchor="t" anchorCtr="0">
            <a:noAutofit/>
          </a:bodyPr>
          <a:lstStyle/>
          <a:p>
            <a:pPr marL="0" indent="0">
              <a:buNone/>
            </a:pPr>
            <a:r>
              <a:rPr lang="en-US" sz="1400" b="1" spc="300" dirty="0">
                <a:solidFill>
                  <a:srgbClr val="B4531A"/>
                </a:solidFill>
              </a:rPr>
              <a:t>FROM LEFT</a:t>
            </a:r>
          </a:p>
          <a:p>
            <a:pPr marL="0" indent="0">
              <a:spcBef>
                <a:spcPts val="900"/>
              </a:spcBef>
              <a:buNone/>
            </a:pPr>
            <a:r>
              <a:rPr lang="en-US" sz="1600" b="1" dirty="0">
                <a:solidFill>
                  <a:srgbClr val="102B3F"/>
                </a:solidFill>
              </a:rPr>
              <a:t>Randy Willig</a:t>
            </a:r>
          </a:p>
          <a:p>
            <a:pPr marL="0" indent="0">
              <a:spcBef>
                <a:spcPts val="500"/>
              </a:spcBef>
              <a:buNone/>
            </a:pPr>
            <a:r>
              <a:rPr lang="en-US" sz="1600" b="1" dirty="0">
                <a:solidFill>
                  <a:srgbClr val="102B3F"/>
                </a:solidFill>
              </a:rPr>
              <a:t>Todd Beetcher</a:t>
            </a:r>
          </a:p>
          <a:p>
            <a:pPr marL="0" indent="0">
              <a:spcBef>
                <a:spcPts val="500"/>
              </a:spcBef>
              <a:buNone/>
            </a:pPr>
            <a:r>
              <a:rPr lang="en-US" sz="1600" b="1" dirty="0">
                <a:solidFill>
                  <a:srgbClr val="102B3F"/>
                </a:solidFill>
              </a:rPr>
              <a:t>Garrett Kress</a:t>
            </a:r>
          </a:p>
          <a:p>
            <a:pPr marL="0" indent="0">
              <a:spcBef>
                <a:spcPts val="500"/>
              </a:spcBef>
              <a:buNone/>
            </a:pPr>
            <a:r>
              <a:rPr lang="en-US" sz="1600" b="1" dirty="0">
                <a:solidFill>
                  <a:srgbClr val="102B3F"/>
                </a:solidFill>
              </a:rPr>
              <a:t>Eric Behnke</a:t>
            </a:r>
          </a:p>
          <a:p>
            <a:pPr marL="0" indent="0">
              <a:spcBef>
                <a:spcPts val="500"/>
              </a:spcBef>
              <a:buNone/>
            </a:pPr>
            <a:r>
              <a:rPr lang="en-US" sz="1600" b="1" dirty="0">
                <a:solidFill>
                  <a:srgbClr val="102B3F"/>
                </a:solidFill>
              </a:rPr>
              <a:t>Craig Shifman</a:t>
            </a:r>
          </a:p>
          <a:p>
            <a:pPr marL="0" indent="0">
              <a:spcBef>
                <a:spcPts val="500"/>
              </a:spcBef>
              <a:buNone/>
            </a:pPr>
            <a:r>
              <a:rPr lang="en-US" sz="1600" b="1" dirty="0">
                <a:solidFill>
                  <a:srgbClr val="102B3F"/>
                </a:solidFill>
              </a:rPr>
              <a:t>Brett Pardikes</a:t>
            </a:r>
          </a:p>
          <a:p>
            <a:pPr marL="0" indent="0">
              <a:spcBef>
                <a:spcPts val="500"/>
              </a:spcBef>
              <a:buNone/>
            </a:pPr>
            <a:r>
              <a:rPr lang="en-US" sz="1600" b="1" dirty="0">
                <a:solidFill>
                  <a:srgbClr val="102B3F"/>
                </a:solidFill>
              </a:rPr>
              <a:t>Steve Matson</a:t>
            </a:r>
          </a:p>
          <a:p>
            <a:pPr marL="0" indent="0">
              <a:spcBef>
                <a:spcPts val="1200"/>
              </a:spcBef>
              <a:buNone/>
            </a:pPr>
            <a:r>
              <a:rPr lang="en-US" sz="1400" dirty="0">
                <a:solidFill>
                  <a:srgbClr val="33414A"/>
                </a:solidFill>
              </a:rPr>
              <a:t>Cyrix Conceptual Products Group</a:t>
            </a:r>
          </a:p>
          <a:p>
            <a:pPr marL="0" indent="0">
              <a:buNone/>
            </a:pPr>
            <a:r>
              <a:rPr lang="en-US" sz="1400" dirty="0">
                <a:solidFill>
                  <a:srgbClr val="33414A"/>
                </a:solidFill>
              </a:rPr>
              <a:t>Longmont, Colorado</a:t>
            </a:r>
          </a:p>
        </p:txBody>
      </p:sp>
    </p:spTree>
    <p:extLst>
      <p:ext uri="{BB962C8B-B14F-4D97-AF65-F5344CB8AC3E}">
        <p14:creationId xmlns:p14="http://schemas.microsoft.com/office/powerpoint/2010/main" val="296825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438912"/>
            <a:ext cx="11064240" cy="502920"/>
          </a:xfrm>
          <a:prstGeom prst="rect">
            <a:avLst/>
          </a:prstGeom>
          <a:noFill/>
          <a:ln/>
        </p:spPr>
        <p:txBody>
          <a:bodyPr wrap="square" lIns="0" tIns="0" rIns="0" bIns="0" rtlCol="0" anchor="ctr"/>
          <a:lstStyle/>
          <a:p>
            <a:pPr marL="0" indent="0">
              <a:buNone/>
            </a:pPr>
            <a:r>
              <a:rPr lang="en-US" sz="2800" b="1" dirty="0">
                <a:solidFill>
                  <a:srgbClr val="102B3F"/>
                </a:solidFill>
                <a:latin typeface="Aptos Display" pitchFamily="34" charset="0"/>
                <a:ea typeface="Aptos Display" pitchFamily="34" charset="-122"/>
                <a:cs typeface="Aptos Display" pitchFamily="34" charset="-120"/>
              </a:rPr>
              <a:t>THREE MORE CORNERS</a:t>
            </a:r>
            <a:endParaRPr lang="en-US" sz="2800" dirty="0"/>
          </a:p>
        </p:txBody>
      </p:sp>
      <p:sp>
        <p:nvSpPr>
          <p:cNvPr id="3" name="Shape 1"/>
          <p:cNvSpPr/>
          <p:nvPr/>
        </p:nvSpPr>
        <p:spPr>
          <a:xfrm>
            <a:off x="658368" y="1239520"/>
            <a:ext cx="3063240" cy="4069080"/>
          </a:xfrm>
          <a:prstGeom prst="rect">
            <a:avLst/>
          </a:prstGeom>
          <a:solidFill>
            <a:srgbClr val="E2E6E5">
              <a:alpha val="85000"/>
            </a:srgbClr>
          </a:solidFill>
          <a:ln w="19050">
            <a:solidFill>
              <a:srgbClr val="93A2A6"/>
            </a:solidFill>
            <a:prstDash val="solid"/>
          </a:ln>
        </p:spPr>
        <p:txBody>
          <a:bodyPr/>
          <a:lstStyle/>
          <a:p>
            <a:endParaRPr lang="en-US"/>
          </a:p>
        </p:txBody>
      </p:sp>
      <p:sp>
        <p:nvSpPr>
          <p:cNvPr id="4" name="Text 2"/>
          <p:cNvSpPr/>
          <p:nvPr/>
        </p:nvSpPr>
        <p:spPr>
          <a:xfrm>
            <a:off x="841248" y="3109467"/>
            <a:ext cx="2697480" cy="329184"/>
          </a:xfrm>
          <a:prstGeom prst="rect">
            <a:avLst/>
          </a:prstGeom>
          <a:noFill/>
          <a:ln/>
        </p:spPr>
        <p:txBody>
          <a:bodyPr wrap="square" lIns="0" tIns="0" rIns="0" bIns="0" rtlCol="0" anchor="ctr"/>
          <a:lstStyle/>
          <a:p>
            <a:pPr marL="0" indent="0" algn="ctr">
              <a:buNone/>
            </a:pPr>
            <a:r>
              <a:rPr lang="en-US" sz="1500" b="1" dirty="0">
                <a:solidFill>
                  <a:srgbClr val="64767A"/>
                </a:solidFill>
              </a:rPr>
              <a:t>[ ZUM PRODUCT PHOTO ]</a:t>
            </a:r>
            <a:endParaRPr lang="en-US" sz="1500" dirty="0"/>
          </a:p>
        </p:txBody>
      </p:sp>
      <p:sp>
        <p:nvSpPr>
          <p:cNvPr id="5" name="Shape 3"/>
          <p:cNvSpPr/>
          <p:nvPr/>
        </p:nvSpPr>
        <p:spPr>
          <a:xfrm>
            <a:off x="658368" y="4714240"/>
            <a:ext cx="3063240" cy="594360"/>
          </a:xfrm>
          <a:prstGeom prst="rect">
            <a:avLst/>
          </a:prstGeom>
          <a:solidFill>
            <a:srgbClr val="102B3F">
              <a:alpha val="96000"/>
            </a:srgbClr>
          </a:solidFill>
          <a:ln w="12700">
            <a:solidFill>
              <a:srgbClr val="102B3F"/>
            </a:solidFill>
            <a:prstDash val="solid"/>
          </a:ln>
        </p:spPr>
        <p:txBody>
          <a:bodyPr/>
          <a:lstStyle/>
          <a:p>
            <a:endParaRPr lang="en-US"/>
          </a:p>
        </p:txBody>
      </p:sp>
      <p:sp>
        <p:nvSpPr>
          <p:cNvPr id="6" name="Text 4"/>
          <p:cNvSpPr/>
          <p:nvPr/>
        </p:nvSpPr>
        <p:spPr>
          <a:xfrm>
            <a:off x="658368" y="4878832"/>
            <a:ext cx="3063240" cy="219456"/>
          </a:xfrm>
          <a:prstGeom prst="rect">
            <a:avLst/>
          </a:prstGeom>
          <a:noFill/>
          <a:ln/>
        </p:spPr>
        <p:txBody>
          <a:bodyPr wrap="square" lIns="0" tIns="0" rIns="0" bIns="0" rtlCol="0" anchor="ctr"/>
          <a:lstStyle/>
          <a:p>
            <a:pPr marL="0" indent="0" algn="ctr">
              <a:buNone/>
            </a:pPr>
            <a:r>
              <a:rPr lang="en-US" sz="1700" b="1" kern="0" spc="130" dirty="0">
                <a:solidFill>
                  <a:srgbClr val="FFFFFF"/>
                </a:solidFill>
              </a:rPr>
              <a:t>ZUM</a:t>
            </a:r>
            <a:endParaRPr lang="en-US" sz="1700" dirty="0"/>
          </a:p>
        </p:txBody>
      </p:sp>
      <p:sp>
        <p:nvSpPr>
          <p:cNvPr id="7" name="Shape 5"/>
          <p:cNvSpPr/>
          <p:nvPr/>
        </p:nvSpPr>
        <p:spPr>
          <a:xfrm>
            <a:off x="4151376" y="1239520"/>
            <a:ext cx="3063240" cy="4069080"/>
          </a:xfrm>
          <a:prstGeom prst="rect">
            <a:avLst/>
          </a:prstGeom>
          <a:solidFill>
            <a:srgbClr val="E2E6E5">
              <a:alpha val="85000"/>
            </a:srgbClr>
          </a:solidFill>
          <a:ln w="19050">
            <a:solidFill>
              <a:srgbClr val="93A2A6"/>
            </a:solidFill>
            <a:prstDash val="solid"/>
          </a:ln>
        </p:spPr>
        <p:txBody>
          <a:bodyPr/>
          <a:lstStyle/>
          <a:p>
            <a:endParaRPr lang="en-US"/>
          </a:p>
        </p:txBody>
      </p:sp>
      <p:sp>
        <p:nvSpPr>
          <p:cNvPr id="8" name="Text 6"/>
          <p:cNvSpPr/>
          <p:nvPr/>
        </p:nvSpPr>
        <p:spPr>
          <a:xfrm>
            <a:off x="4334256" y="3109467"/>
            <a:ext cx="2697480" cy="329184"/>
          </a:xfrm>
          <a:prstGeom prst="rect">
            <a:avLst/>
          </a:prstGeom>
          <a:noFill/>
          <a:ln/>
        </p:spPr>
        <p:txBody>
          <a:bodyPr wrap="square" lIns="0" tIns="0" rIns="0" bIns="0" rtlCol="0" anchor="ctr"/>
          <a:lstStyle/>
          <a:p>
            <a:pPr marL="0" indent="0" algn="ctr">
              <a:buNone/>
            </a:pPr>
            <a:r>
              <a:rPr lang="en-US" sz="1500" b="1" dirty="0">
                <a:solidFill>
                  <a:srgbClr val="64767A"/>
                </a:solidFill>
              </a:rPr>
              <a:t>[ BOCS PRODUCT PHOTO ]</a:t>
            </a:r>
            <a:endParaRPr lang="en-US" sz="1500" dirty="0"/>
          </a:p>
        </p:txBody>
      </p:sp>
      <p:sp>
        <p:nvSpPr>
          <p:cNvPr id="9" name="Shape 7"/>
          <p:cNvSpPr/>
          <p:nvPr/>
        </p:nvSpPr>
        <p:spPr>
          <a:xfrm>
            <a:off x="4151376" y="4714240"/>
            <a:ext cx="3063240" cy="594360"/>
          </a:xfrm>
          <a:prstGeom prst="rect">
            <a:avLst/>
          </a:prstGeom>
          <a:solidFill>
            <a:srgbClr val="102B3F">
              <a:alpha val="96000"/>
            </a:srgbClr>
          </a:solidFill>
          <a:ln w="12700">
            <a:solidFill>
              <a:srgbClr val="102B3F"/>
            </a:solidFill>
            <a:prstDash val="solid"/>
          </a:ln>
        </p:spPr>
        <p:txBody>
          <a:bodyPr/>
          <a:lstStyle/>
          <a:p>
            <a:endParaRPr lang="en-US"/>
          </a:p>
        </p:txBody>
      </p:sp>
      <p:sp>
        <p:nvSpPr>
          <p:cNvPr id="10" name="Text 8"/>
          <p:cNvSpPr/>
          <p:nvPr/>
        </p:nvSpPr>
        <p:spPr>
          <a:xfrm>
            <a:off x="4151376" y="4878832"/>
            <a:ext cx="3063240" cy="219456"/>
          </a:xfrm>
          <a:prstGeom prst="rect">
            <a:avLst/>
          </a:prstGeom>
          <a:noFill/>
          <a:ln/>
        </p:spPr>
        <p:txBody>
          <a:bodyPr wrap="square" lIns="0" tIns="0" rIns="0" bIns="0" rtlCol="0" anchor="ctr"/>
          <a:lstStyle/>
          <a:p>
            <a:pPr marL="0" indent="0" algn="ctr">
              <a:buNone/>
            </a:pPr>
            <a:r>
              <a:rPr lang="en-US" sz="1700" b="1" kern="0" spc="130" dirty="0">
                <a:solidFill>
                  <a:srgbClr val="FFFFFF"/>
                </a:solidFill>
              </a:rPr>
              <a:t>BOCS</a:t>
            </a:r>
            <a:endParaRPr lang="en-US" sz="1700" dirty="0"/>
          </a:p>
        </p:txBody>
      </p:sp>
      <p:sp>
        <p:nvSpPr>
          <p:cNvPr id="11" name="Shape 9"/>
          <p:cNvSpPr/>
          <p:nvPr/>
        </p:nvSpPr>
        <p:spPr>
          <a:xfrm>
            <a:off x="7644384" y="1239520"/>
            <a:ext cx="3063240" cy="4069080"/>
          </a:xfrm>
          <a:prstGeom prst="rect">
            <a:avLst/>
          </a:prstGeom>
          <a:solidFill>
            <a:srgbClr val="E2E6E5">
              <a:alpha val="85000"/>
            </a:srgbClr>
          </a:solidFill>
          <a:ln w="19050">
            <a:solidFill>
              <a:srgbClr val="93A2A6"/>
            </a:solidFill>
            <a:prstDash val="solid"/>
          </a:ln>
        </p:spPr>
        <p:txBody>
          <a:bodyPr/>
          <a:lstStyle/>
          <a:p>
            <a:endParaRPr lang="en-US"/>
          </a:p>
        </p:txBody>
      </p:sp>
      <p:sp>
        <p:nvSpPr>
          <p:cNvPr id="12" name="Text 10"/>
          <p:cNvSpPr/>
          <p:nvPr/>
        </p:nvSpPr>
        <p:spPr>
          <a:xfrm>
            <a:off x="7827264" y="3109467"/>
            <a:ext cx="2697480" cy="329184"/>
          </a:xfrm>
          <a:prstGeom prst="rect">
            <a:avLst/>
          </a:prstGeom>
          <a:noFill/>
          <a:ln/>
        </p:spPr>
        <p:txBody>
          <a:bodyPr wrap="square" lIns="0" tIns="0" rIns="0" bIns="0" rtlCol="0" anchor="ctr"/>
          <a:lstStyle/>
          <a:p>
            <a:pPr marL="0" indent="0" algn="ctr">
              <a:buNone/>
            </a:pPr>
            <a:r>
              <a:rPr lang="en-US" sz="1500" b="1" dirty="0">
                <a:solidFill>
                  <a:srgbClr val="64767A"/>
                </a:solidFill>
              </a:rPr>
              <a:t>[ THUMP PRODUCT PHOTO ]</a:t>
            </a:r>
            <a:endParaRPr lang="en-US" sz="1500" dirty="0"/>
          </a:p>
        </p:txBody>
      </p:sp>
      <p:sp>
        <p:nvSpPr>
          <p:cNvPr id="13" name="Shape 11"/>
          <p:cNvSpPr/>
          <p:nvPr/>
        </p:nvSpPr>
        <p:spPr>
          <a:xfrm>
            <a:off x="7644384" y="4714240"/>
            <a:ext cx="3063240" cy="594360"/>
          </a:xfrm>
          <a:prstGeom prst="rect">
            <a:avLst/>
          </a:prstGeom>
          <a:solidFill>
            <a:srgbClr val="102B3F">
              <a:alpha val="96000"/>
            </a:srgbClr>
          </a:solidFill>
          <a:ln w="12700">
            <a:solidFill>
              <a:srgbClr val="102B3F"/>
            </a:solidFill>
            <a:prstDash val="solid"/>
          </a:ln>
        </p:spPr>
        <p:txBody>
          <a:bodyPr/>
          <a:lstStyle/>
          <a:p>
            <a:endParaRPr lang="en-US"/>
          </a:p>
        </p:txBody>
      </p:sp>
      <p:sp>
        <p:nvSpPr>
          <p:cNvPr id="14" name="Text 12"/>
          <p:cNvSpPr/>
          <p:nvPr/>
        </p:nvSpPr>
        <p:spPr>
          <a:xfrm>
            <a:off x="7644384" y="4878832"/>
            <a:ext cx="3063240" cy="219456"/>
          </a:xfrm>
          <a:prstGeom prst="rect">
            <a:avLst/>
          </a:prstGeom>
          <a:noFill/>
          <a:ln/>
        </p:spPr>
        <p:txBody>
          <a:bodyPr wrap="square" lIns="0" tIns="0" rIns="0" bIns="0" rtlCol="0" anchor="ctr"/>
          <a:lstStyle/>
          <a:p>
            <a:pPr marL="0" indent="0" algn="ctr">
              <a:buNone/>
            </a:pPr>
            <a:r>
              <a:rPr lang="en-US" sz="1700" b="1" kern="0" spc="130" dirty="0">
                <a:solidFill>
                  <a:srgbClr val="FFFFFF"/>
                </a:solidFill>
              </a:rPr>
              <a:t>THUMP</a:t>
            </a:r>
            <a:endParaRPr lang="en-US" sz="1700" dirty="0"/>
          </a:p>
        </p:txBody>
      </p:sp>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6</a:t>
            </a:fld>
            <a:endParaRPr lang="en-US"/>
          </a:p>
        </p:txBody>
      </p:sp>
      <p:pic>
        <p:nvPicPr>
          <p:cNvPr id="16" name="Picture 15">
            <a:extLst>
              <a:ext uri="{FF2B5EF4-FFF2-40B4-BE49-F238E27FC236}">
                <a16:creationId xmlns:a16="http://schemas.microsoft.com/office/drawing/2014/main" id="{FF1A50CE-7439-185E-95C6-24CA9F70C0AB}"/>
              </a:ext>
            </a:extLst>
          </p:cNvPr>
          <p:cNvPicPr>
            <a:picLocks noChangeAspect="1"/>
          </p:cNvPicPr>
          <p:nvPr/>
        </p:nvPicPr>
        <p:blipFill>
          <a:blip r:embed="rId3"/>
          <a:stretch>
            <a:fillRect/>
          </a:stretch>
        </p:blipFill>
        <p:spPr>
          <a:xfrm>
            <a:off x="660400" y="1282700"/>
            <a:ext cx="3060700" cy="3413858"/>
          </a:xfrm>
          <a:prstGeom prst="rect">
            <a:avLst/>
          </a:prstGeom>
        </p:spPr>
      </p:pic>
      <p:sp>
        <p:nvSpPr>
          <p:cNvPr id="40" name="Caption 40"/>
          <p:cNvSpPr txBox="1"/>
          <p:nvPr/>
        </p:nvSpPr>
        <p:spPr>
          <a:xfrm>
            <a:off x="571500" y="5511800"/>
            <a:ext cx="3238500" cy="787400"/>
          </a:xfrm>
          <a:prstGeom prst="rect">
            <a:avLst/>
          </a:prstGeom>
          <a:noFill/>
        </p:spPr>
        <p:txBody>
          <a:bodyPr wrap="square" lIns="0" tIns="0" rIns="0" bIns="0" anchor="t">
            <a:noAutofit/>
          </a:bodyPr>
          <a:lstStyle/>
          <a:p>
            <a:pPr marL="0" indent="0" algn="ctr">
              <a:lnSpc>
                <a:spcPts val="1520"/>
              </a:lnSpc>
              <a:buNone/>
            </a:pPr>
            <a:r>
              <a:rPr lang="en-US" sz="1400" kern="0" dirty="0">
                <a:solidFill>
                  <a:srgbClr val="102B3F"/>
                </a:solidFill>
              </a:rPr>
              <a:t>Adult sports nutrition</a:t>
            </a:r>
          </a:p>
          <a:p>
            <a:pPr marL="0" indent="0" algn="ctr">
              <a:lnSpc>
                <a:spcPts val="3000"/>
              </a:lnSpc>
              <a:buNone/>
            </a:pPr>
            <a:r>
              <a:rPr lang="en-US" sz="3000" dirty="0"/>
              <a:t> </a:t>
            </a:r>
          </a:p>
          <a:p>
            <a:pPr marL="0" indent="0" algn="ctr">
              <a:lnSpc>
                <a:spcPts val="1520"/>
              </a:lnSpc>
              <a:spcBef>
                <a:spcPts val="400"/>
              </a:spcBef>
              <a:buNone/>
            </a:pPr>
            <a:r>
              <a:rPr lang="en-US" sz="1400" kern="0" dirty="0">
                <a:solidFill>
                  <a:srgbClr val="102B3F"/>
                </a:solidFill>
              </a:rPr>
              <a:t>the rise of youth sports</a:t>
            </a:r>
          </a:p>
        </p:txBody>
      </p:sp>
      <p:sp>
        <p:nvSpPr>
          <p:cNvPr id="41" name="Caption 41"/>
          <p:cNvSpPr txBox="1"/>
          <p:nvPr/>
        </p:nvSpPr>
        <p:spPr>
          <a:xfrm>
            <a:off x="4064000" y="5511800"/>
            <a:ext cx="3238500" cy="787400"/>
          </a:xfrm>
          <a:prstGeom prst="rect">
            <a:avLst/>
          </a:prstGeom>
          <a:noFill/>
        </p:spPr>
        <p:txBody>
          <a:bodyPr wrap="square" lIns="0" tIns="0" rIns="0" bIns="0" anchor="t">
            <a:noAutofit/>
          </a:bodyPr>
          <a:lstStyle/>
          <a:p>
            <a:pPr marL="0" indent="0" algn="ctr">
              <a:lnSpc>
                <a:spcPts val="1520"/>
              </a:lnSpc>
              <a:buNone/>
            </a:pPr>
            <a:r>
              <a:rPr lang="en-US" sz="1400" kern="0" dirty="0">
                <a:solidFill>
                  <a:srgbClr val="102B3F"/>
                </a:solidFill>
              </a:rPr>
              <a:t>TiVo</a:t>
            </a:r>
          </a:p>
          <a:p>
            <a:pPr marL="0" indent="0" algn="ctr">
              <a:lnSpc>
                <a:spcPts val="3000"/>
              </a:lnSpc>
              <a:buNone/>
            </a:pPr>
            <a:r>
              <a:rPr lang="en-US" sz="3000" dirty="0"/>
              <a:t> </a:t>
            </a:r>
          </a:p>
          <a:p>
            <a:pPr marL="0" indent="0" algn="ctr">
              <a:lnSpc>
                <a:spcPts val="1520"/>
              </a:lnSpc>
              <a:spcBef>
                <a:spcPts val="400"/>
              </a:spcBef>
              <a:buNone/>
            </a:pPr>
            <a:r>
              <a:rPr lang="en-US" sz="1400" kern="0" dirty="0">
                <a:solidFill>
                  <a:srgbClr val="102B3F"/>
                </a:solidFill>
              </a:rPr>
              <a:t>entertainment moving beyond one room</a:t>
            </a:r>
          </a:p>
        </p:txBody>
      </p:sp>
      <p:sp>
        <p:nvSpPr>
          <p:cNvPr id="42" name="Caption 42"/>
          <p:cNvSpPr txBox="1"/>
          <p:nvPr/>
        </p:nvSpPr>
        <p:spPr>
          <a:xfrm>
            <a:off x="7556500" y="5511800"/>
            <a:ext cx="3238500" cy="787400"/>
          </a:xfrm>
          <a:prstGeom prst="rect">
            <a:avLst/>
          </a:prstGeom>
          <a:noFill/>
        </p:spPr>
        <p:txBody>
          <a:bodyPr wrap="square" lIns="0" tIns="0" rIns="0" bIns="0" anchor="t">
            <a:noAutofit/>
          </a:bodyPr>
          <a:lstStyle/>
          <a:p>
            <a:pPr marL="0" indent="0" algn="ctr">
              <a:lnSpc>
                <a:spcPts val="1520"/>
              </a:lnSpc>
              <a:buNone/>
            </a:pPr>
            <a:r>
              <a:rPr lang="en-US" sz="1400" kern="0" dirty="0">
                <a:solidFill>
                  <a:srgbClr val="102B3F"/>
                </a:solidFill>
              </a:rPr>
              <a:t>Bluetooth</a:t>
            </a:r>
          </a:p>
          <a:p>
            <a:pPr marL="0" indent="0" algn="ctr">
              <a:lnSpc>
                <a:spcPts val="3000"/>
              </a:lnSpc>
              <a:buNone/>
            </a:pPr>
            <a:r>
              <a:rPr lang="en-US" sz="3000" dirty="0"/>
              <a:t> </a:t>
            </a:r>
          </a:p>
          <a:p>
            <a:pPr marL="0" indent="0" algn="ctr">
              <a:lnSpc>
                <a:spcPts val="1520"/>
              </a:lnSpc>
              <a:spcBef>
                <a:spcPts val="400"/>
              </a:spcBef>
              <a:buNone/>
            </a:pPr>
            <a:r>
              <a:rPr lang="en-US" sz="1400" kern="0" dirty="0">
                <a:solidFill>
                  <a:srgbClr val="102B3F"/>
                </a:solidFill>
              </a:rPr>
              <a:t>endurance athletes going digital</a:t>
            </a:r>
          </a:p>
        </p:txBody>
      </p:sp>
      <p:pic>
        <p:nvPicPr>
          <p:cNvPr id="18" name="Picture 17">
            <a:extLst>
              <a:ext uri="{FF2B5EF4-FFF2-40B4-BE49-F238E27FC236}">
                <a16:creationId xmlns:a16="http://schemas.microsoft.com/office/drawing/2014/main" id="{19F4C4A2-93D0-28DF-C664-6CA17773E001}"/>
              </a:ext>
            </a:extLst>
          </p:cNvPr>
          <p:cNvPicPr>
            <a:picLocks noChangeAspect="1"/>
          </p:cNvPicPr>
          <p:nvPr/>
        </p:nvPicPr>
        <p:blipFill>
          <a:blip r:embed="rId4"/>
          <a:stretch>
            <a:fillRect/>
          </a:stretch>
        </p:blipFill>
        <p:spPr>
          <a:xfrm>
            <a:off x="4152900" y="1282700"/>
            <a:ext cx="3060700" cy="3411928"/>
          </a:xfrm>
          <a:prstGeom prst="rect">
            <a:avLst/>
          </a:prstGeom>
        </p:spPr>
      </p:pic>
      <p:pic>
        <p:nvPicPr>
          <p:cNvPr id="15" name="Picture 14">
            <a:extLst>
              <a:ext uri="{FF2B5EF4-FFF2-40B4-BE49-F238E27FC236}">
                <a16:creationId xmlns:a16="http://schemas.microsoft.com/office/drawing/2014/main" id="{A35B3CAC-D17A-7D38-AF05-661224A8E235}"/>
              </a:ext>
            </a:extLst>
          </p:cNvPr>
          <p:cNvPicPr>
            <a:picLocks noChangeAspect="1"/>
          </p:cNvPicPr>
          <p:nvPr/>
        </p:nvPicPr>
        <p:blipFill>
          <a:blip r:embed="rId5"/>
          <a:srcRect l="17000" r="17000"/>
          <a:stretch>
            <a:fillRect/>
          </a:stretch>
        </p:blipFill>
        <p:spPr>
          <a:xfrm>
            <a:off x="7645400" y="1282700"/>
            <a:ext cx="3060700" cy="3416300"/>
          </a:xfrm>
          <a:prstGeom prst="rect">
            <a:avLst/>
          </a:prstGeom>
        </p:spPr>
      </p:pic>
      <p:sp>
        <p:nvSpPr>
          <p:cNvPr id="201" name="Collision Burst 1"/>
          <p:cNvSpPr/>
          <p:nvPr/>
        </p:nvSpPr>
        <p:spPr>
          <a:xfrm>
            <a:off x="1987550" y="5740400"/>
            <a:ext cx="406400" cy="406400"/>
          </a:xfrm>
          <a:prstGeom prst="irregularSeal2">
            <a:avLst/>
          </a:prstGeom>
          <a:solidFill>
            <a:srgbClr val="9C5A35"/>
          </a:solidFill>
          <a:ln>
            <a:noFill/>
          </a:ln>
        </p:spPr>
        <p:txBody>
          <a:bodyPr wrap="none" lIns="0" tIns="0" rIns="0" bIns="0" anchor="ctr"/>
          <a:lstStyle/>
          <a:p>
            <a:pPr algn="ctr">
              <a:buNone/>
            </a:pPr>
            <a:endParaRPr lang="en-US" sz="1400"/>
          </a:p>
        </p:txBody>
      </p:sp>
      <p:sp>
        <p:nvSpPr>
          <p:cNvPr id="202" name="Collision Burst 2"/>
          <p:cNvSpPr/>
          <p:nvPr/>
        </p:nvSpPr>
        <p:spPr>
          <a:xfrm>
            <a:off x="5480050" y="5740400"/>
            <a:ext cx="406400" cy="406400"/>
          </a:xfrm>
          <a:prstGeom prst="irregularSeal2">
            <a:avLst/>
          </a:prstGeom>
          <a:solidFill>
            <a:srgbClr val="9C5A35"/>
          </a:solidFill>
          <a:ln>
            <a:noFill/>
          </a:ln>
        </p:spPr>
        <p:txBody>
          <a:bodyPr wrap="none" lIns="0" tIns="0" rIns="0" bIns="0" anchor="ctr"/>
          <a:lstStyle/>
          <a:p>
            <a:pPr algn="ctr">
              <a:buNone/>
            </a:pPr>
            <a:endParaRPr lang="en-US" sz="1400"/>
          </a:p>
        </p:txBody>
      </p:sp>
      <p:sp>
        <p:nvSpPr>
          <p:cNvPr id="203" name="Collision Burst 3"/>
          <p:cNvSpPr/>
          <p:nvPr/>
        </p:nvSpPr>
        <p:spPr>
          <a:xfrm>
            <a:off x="8972550" y="5740400"/>
            <a:ext cx="406400" cy="406400"/>
          </a:xfrm>
          <a:prstGeom prst="irregularSeal2">
            <a:avLst/>
          </a:prstGeom>
          <a:solidFill>
            <a:srgbClr val="9C5A35"/>
          </a:solidFill>
          <a:ln>
            <a:noFill/>
          </a:ln>
        </p:spPr>
        <p:txBody>
          <a:bodyPr wrap="none" lIns="0" tIns="0" rIns="0" bIns="0" anchor="ctr"/>
          <a:lstStyle/>
          <a:p>
            <a:pPr algn="ctr">
              <a:buNone/>
            </a:pPr>
            <a:endParaRPr lang="en-US" sz="1400"/>
          </a:p>
        </p:txBody>
      </p:sp>
      <p:sp>
        <p:nvSpPr>
          <p:cNvPr id="211" name="Year 2003"/>
          <p:cNvSpPr txBox="1"/>
          <p:nvPr/>
        </p:nvSpPr>
        <p:spPr>
          <a:xfrm>
            <a:off x="2654300" y="4968240"/>
            <a:ext cx="889000" cy="254000"/>
          </a:xfrm>
          <a:prstGeom prst="rect">
            <a:avLst/>
          </a:prstGeom>
          <a:noFill/>
          <a:ln>
            <a:noFill/>
          </a:ln>
        </p:spPr>
        <p:txBody>
          <a:bodyPr wrap="none" lIns="0" tIns="0" rIns="0" bIns="0" anchor="b" anchorCtr="0"/>
          <a:lstStyle/>
          <a:p>
            <a:pPr marL="0" indent="0" algn="r">
              <a:buNone/>
            </a:pPr>
            <a:r>
              <a:rPr lang="en-US" sz="1400" b="0" kern="0" spc="60" dirty="0">
                <a:solidFill>
                  <a:srgbClr val="8FA0AD"/>
                </a:solidFill>
              </a:rPr>
              <a:t>2003</a:t>
            </a:r>
          </a:p>
        </p:txBody>
      </p:sp>
      <p:sp>
        <p:nvSpPr>
          <p:cNvPr id="212" name="Year 2006"/>
          <p:cNvSpPr txBox="1"/>
          <p:nvPr/>
        </p:nvSpPr>
        <p:spPr>
          <a:xfrm>
            <a:off x="6146800" y="4968240"/>
            <a:ext cx="889000" cy="254000"/>
          </a:xfrm>
          <a:prstGeom prst="rect">
            <a:avLst/>
          </a:prstGeom>
          <a:noFill/>
          <a:ln>
            <a:noFill/>
          </a:ln>
        </p:spPr>
        <p:txBody>
          <a:bodyPr wrap="none" lIns="0" tIns="0" rIns="0" bIns="0" anchor="b" anchorCtr="0"/>
          <a:lstStyle/>
          <a:p>
            <a:pPr marL="0" indent="0" algn="r">
              <a:buNone/>
            </a:pPr>
            <a:r>
              <a:rPr lang="en-US" sz="1400" b="0" kern="0" spc="60" dirty="0">
                <a:solidFill>
                  <a:srgbClr val="8FA0AD"/>
                </a:solidFill>
              </a:rPr>
              <a:t>2006</a:t>
            </a:r>
          </a:p>
        </p:txBody>
      </p:sp>
      <p:sp>
        <p:nvSpPr>
          <p:cNvPr id="213" name="Year 2010"/>
          <p:cNvSpPr txBox="1"/>
          <p:nvPr/>
        </p:nvSpPr>
        <p:spPr>
          <a:xfrm>
            <a:off x="9639300" y="4968240"/>
            <a:ext cx="889000" cy="254000"/>
          </a:xfrm>
          <a:prstGeom prst="rect">
            <a:avLst/>
          </a:prstGeom>
          <a:noFill/>
          <a:ln>
            <a:noFill/>
          </a:ln>
        </p:spPr>
        <p:txBody>
          <a:bodyPr wrap="none" lIns="0" tIns="0" rIns="0" bIns="0" anchor="b" anchorCtr="0"/>
          <a:lstStyle/>
          <a:p>
            <a:pPr marL="0" indent="0" algn="r">
              <a:buNone/>
            </a:pPr>
            <a:r>
              <a:rPr lang="en-US" sz="1400" b="0" kern="0" spc="60" dirty="0">
                <a:solidFill>
                  <a:srgbClr val="8FA0AD"/>
                </a:solidFill>
              </a:rPr>
              <a:t>2010</a:t>
            </a:r>
          </a:p>
        </p:txBody>
      </p:sp>
    </p:spTree>
    <p:extLst>
      <p:ext uri="{BB962C8B-B14F-4D97-AF65-F5344CB8AC3E}">
        <p14:creationId xmlns:p14="http://schemas.microsoft.com/office/powerpoint/2010/main" val="4033789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Title"/>
          <p:cNvSpPr txBox="1"/>
          <p:nvPr/>
        </p:nvSpPr>
        <p:spPr>
          <a:xfrm>
            <a:off x="571500" y="444500"/>
            <a:ext cx="11061700" cy="508000"/>
          </a:xfrm>
          <a:prstGeom prst="rect">
            <a:avLst/>
          </a:prstGeom>
          <a:noFill/>
          <a:ln>
            <a:noFill/>
          </a:ln>
        </p:spPr>
        <p:txBody>
          <a:bodyPr wrap="square" lIns="0" tIns="0" rIns="0" bIns="0" anchor="t"/>
          <a:lstStyle/>
          <a:p>
            <a:pPr marL="0" indent="0" algn="l">
              <a:buNone/>
            </a:pPr>
            <a:r>
              <a:rPr lang="en-US" sz="2800" b="1" dirty="0">
                <a:solidFill>
                  <a:srgbClr val="102B3F"/>
                </a:solidFill>
                <a:latin typeface="Aptos Display" pitchFamily="34" charset="0"/>
                <a:ea typeface="Aptos Display" pitchFamily="34" charset="-122"/>
                <a:cs typeface="Aptos Display" pitchFamily="34" charset="-120"/>
              </a:rPr>
              <a:t>AND THEN AI HIT THE GAS</a:t>
            </a:r>
          </a:p>
        </p:txBody>
      </p:sp>
      <p:sp>
        <p:nvSpPr>
          <p:cNvPr id="302" name="Subtitle"/>
          <p:cNvSpPr txBox="1"/>
          <p:nvPr/>
        </p:nvSpPr>
        <p:spPr>
          <a:xfrm>
            <a:off x="584200" y="990600"/>
            <a:ext cx="10883900" cy="368300"/>
          </a:xfrm>
          <a:prstGeom prst="rect">
            <a:avLst/>
          </a:prstGeom>
          <a:noFill/>
          <a:ln>
            <a:noFill/>
          </a:ln>
        </p:spPr>
        <p:txBody>
          <a:bodyPr wrap="square" lIns="0" tIns="0" rIns="0" bIns="0" anchor="t"/>
          <a:lstStyle/>
          <a:p>
            <a:pPr marL="0" indent="0" algn="l">
              <a:buNone/>
            </a:pPr>
            <a:r>
              <a:rPr lang="en-US" sz="1600" dirty="0">
                <a:solidFill>
                  <a:srgbClr val="5E6A74"/>
                </a:solidFill>
              </a:rPr>
              <a:t>Not one more technology to watch — </a:t>
            </a:r>
            <a:r>
              <a:rPr lang="en-US" sz="1600" b="1" dirty="0">
                <a:solidFill>
                  <a:srgbClr val="9C5A35"/>
                </a:solidFill>
              </a:rPr>
              <a:t>an accelerant under all of them.</a:t>
            </a:r>
          </a:p>
        </p:txBody>
      </p:sp>
      <p:sp>
        <p:nvSpPr>
          <p:cNvPr id="310" name="Hist 1"/>
          <p:cNvSpPr/>
          <p:nvPr/>
        </p:nvSpPr>
        <p:spPr>
          <a:xfrm>
            <a:off x="571500" y="1676400"/>
            <a:ext cx="3365500" cy="1016000"/>
          </a:xfrm>
          <a:prstGeom prst="rect">
            <a:avLst/>
          </a:prstGeom>
          <a:solidFill>
            <a:srgbClr val="FFFFFF"/>
          </a:solidFill>
          <a:ln w="12700">
            <a:solidFill>
              <a:srgbClr val="E4DBCB"/>
            </a:solidFill>
          </a:ln>
        </p:spPr>
        <p:txBody>
          <a:bodyPr wrap="square" lIns="177800" tIns="101600" rIns="177800" bIns="101600" anchor="ctr"/>
          <a:lstStyle/>
          <a:p>
            <a:pPr marL="0" indent="0" algn="ctr">
              <a:buNone/>
            </a:pPr>
            <a:r>
              <a:rPr lang="en-US" sz="1600" b="1" spc="60" dirty="0">
                <a:solidFill>
                  <a:srgbClr val="102B3F"/>
                </a:solidFill>
                <a:latin typeface="Aptos Display" pitchFamily="34" charset="0"/>
                <a:ea typeface="Aptos Display" pitchFamily="34" charset="-122"/>
                <a:cs typeface="Aptos Display" pitchFamily="34" charset="-120"/>
              </a:rPr>
              <a:t>COMBUSTION</a:t>
            </a:r>
          </a:p>
        </p:txBody>
      </p:sp>
      <p:sp>
        <p:nvSpPr>
          <p:cNvPr id="311" name="Hist 2"/>
          <p:cNvSpPr/>
          <p:nvPr/>
        </p:nvSpPr>
        <p:spPr>
          <a:xfrm>
            <a:off x="4419600" y="1676400"/>
            <a:ext cx="3365500" cy="1016000"/>
          </a:xfrm>
          <a:prstGeom prst="rect">
            <a:avLst/>
          </a:prstGeom>
          <a:solidFill>
            <a:srgbClr val="FFFFFF"/>
          </a:solidFill>
          <a:ln w="12700">
            <a:solidFill>
              <a:srgbClr val="E4DBCB"/>
            </a:solidFill>
          </a:ln>
        </p:spPr>
        <p:txBody>
          <a:bodyPr wrap="square" lIns="177800" tIns="101600" rIns="177800" bIns="101600" anchor="ctr"/>
          <a:lstStyle/>
          <a:p>
            <a:pPr marL="0" indent="0" algn="ctr">
              <a:buNone/>
            </a:pPr>
            <a:r>
              <a:rPr lang="en-US" sz="1600" b="1" spc="60" dirty="0">
                <a:solidFill>
                  <a:srgbClr val="102B3F"/>
                </a:solidFill>
                <a:latin typeface="Aptos Display" pitchFamily="34" charset="0"/>
                <a:ea typeface="Aptos Display" pitchFamily="34" charset="-122"/>
                <a:cs typeface="Aptos Display" pitchFamily="34" charset="-120"/>
              </a:rPr>
              <a:t>ENGINES</a:t>
            </a:r>
          </a:p>
        </p:txBody>
      </p:sp>
      <p:sp>
        <p:nvSpPr>
          <p:cNvPr id="312" name="Hist 3"/>
          <p:cNvSpPr/>
          <p:nvPr/>
        </p:nvSpPr>
        <p:spPr>
          <a:xfrm>
            <a:off x="8267700" y="1676400"/>
            <a:ext cx="3365500" cy="1016000"/>
          </a:xfrm>
          <a:prstGeom prst="rect">
            <a:avLst/>
          </a:prstGeom>
          <a:solidFill>
            <a:srgbClr val="FFFFFF"/>
          </a:solidFill>
          <a:ln w="12700">
            <a:solidFill>
              <a:srgbClr val="E4DBCB"/>
            </a:solidFill>
          </a:ln>
        </p:spPr>
        <p:txBody>
          <a:bodyPr wrap="square" lIns="177800" tIns="101600" rIns="177800" bIns="101600" anchor="ctr"/>
          <a:lstStyle/>
          <a:p>
            <a:pPr marL="0" indent="0" algn="ctr">
              <a:buNone/>
            </a:pPr>
            <a:r>
              <a:rPr lang="en-US" sz="1600" b="1" spc="60" dirty="0">
                <a:solidFill>
                  <a:srgbClr val="102B3F"/>
                </a:solidFill>
                <a:latin typeface="Aptos Display" pitchFamily="34" charset="0"/>
                <a:ea typeface="Aptos Display" pitchFamily="34" charset="-122"/>
                <a:cs typeface="Aptos Display" pitchFamily="34" charset="-120"/>
              </a:rPr>
              <a:t>VEHICLES</a:t>
            </a:r>
          </a:p>
        </p:txBody>
      </p:sp>
      <p:sp>
        <p:nvSpPr>
          <p:cNvPr id="313" name="Arrow 313"/>
          <p:cNvSpPr/>
          <p:nvPr/>
        </p:nvSpPr>
        <p:spPr>
          <a:xfrm rot="5400000">
            <a:off x="4064000" y="2070100"/>
            <a:ext cx="228600" cy="228600"/>
          </a:xfrm>
          <a:prstGeom prst="triangle">
            <a:avLst/>
          </a:prstGeom>
          <a:solidFill>
            <a:srgbClr val="5E6A74"/>
          </a:solidFill>
          <a:ln>
            <a:noFill/>
          </a:ln>
        </p:spPr>
        <p:txBody>
          <a:bodyPr/>
          <a:lstStyle/>
          <a:p>
            <a:endParaRPr lang="en-US"/>
          </a:p>
        </p:txBody>
      </p:sp>
      <p:sp>
        <p:nvSpPr>
          <p:cNvPr id="314" name="Arrow 314"/>
          <p:cNvSpPr/>
          <p:nvPr/>
        </p:nvSpPr>
        <p:spPr>
          <a:xfrm rot="5400000">
            <a:off x="7912100" y="2070100"/>
            <a:ext cx="228600" cy="228600"/>
          </a:xfrm>
          <a:prstGeom prst="triangle">
            <a:avLst/>
          </a:prstGeom>
          <a:solidFill>
            <a:srgbClr val="5E6A74"/>
          </a:solidFill>
          <a:ln>
            <a:noFill/>
          </a:ln>
        </p:spPr>
        <p:txBody>
          <a:bodyPr/>
          <a:lstStyle/>
          <a:p>
            <a:endParaRPr lang="en-US"/>
          </a:p>
        </p:txBody>
      </p:sp>
      <p:sp>
        <p:nvSpPr>
          <p:cNvPr id="315" name="Hist caption"/>
          <p:cNvSpPr txBox="1"/>
          <p:nvPr/>
        </p:nvSpPr>
        <p:spPr>
          <a:xfrm>
            <a:off x="571500" y="2794000"/>
            <a:ext cx="11061700" cy="254000"/>
          </a:xfrm>
          <a:prstGeom prst="rect">
            <a:avLst/>
          </a:prstGeom>
          <a:noFill/>
          <a:ln>
            <a:noFill/>
          </a:ln>
        </p:spPr>
        <p:txBody>
          <a:bodyPr wrap="square" lIns="0" tIns="0" rIns="0" bIns="0" anchor="t"/>
          <a:lstStyle/>
          <a:p>
            <a:pPr marL="0" indent="0" algn="ctr">
              <a:buNone/>
            </a:pPr>
            <a:r>
              <a:rPr lang="en-US" sz="1400" dirty="0">
                <a:solidFill>
                  <a:srgbClr val="5E6A74"/>
                </a:solidFill>
              </a:rPr>
              <a:t>One new capability. Decades of products nobody had imagined yet.</a:t>
            </a:r>
          </a:p>
        </p:txBody>
      </p:sp>
      <p:sp>
        <p:nvSpPr>
          <p:cNvPr id="320" name="Now 1"/>
          <p:cNvSpPr/>
          <p:nvPr/>
        </p:nvSpPr>
        <p:spPr>
          <a:xfrm>
            <a:off x="571500" y="3327400"/>
            <a:ext cx="3365500" cy="1016000"/>
          </a:xfrm>
          <a:prstGeom prst="rect">
            <a:avLst/>
          </a:prstGeom>
          <a:solidFill>
            <a:srgbClr val="102B3F"/>
          </a:solidFill>
          <a:ln>
            <a:noFill/>
          </a:ln>
        </p:spPr>
        <p:txBody>
          <a:bodyPr wrap="square" lIns="177800" tIns="101600" rIns="177800" bIns="101600" anchor="ctr"/>
          <a:lstStyle/>
          <a:p>
            <a:pPr marL="0" indent="0" algn="ctr">
              <a:buNone/>
            </a:pPr>
            <a:r>
              <a:rPr lang="en-US" sz="2400" b="1" spc="60" dirty="0">
                <a:solidFill>
                  <a:srgbClr val="F7F2E6"/>
                </a:solidFill>
                <a:latin typeface="Aptos Display" pitchFamily="34" charset="0"/>
                <a:ea typeface="Aptos Display" pitchFamily="34" charset="-122"/>
                <a:cs typeface="Aptos Display" pitchFamily="34" charset="-120"/>
              </a:rPr>
              <a:t>AI</a:t>
            </a:r>
          </a:p>
        </p:txBody>
      </p:sp>
      <p:sp>
        <p:nvSpPr>
          <p:cNvPr id="321" name="Now 2"/>
          <p:cNvSpPr/>
          <p:nvPr/>
        </p:nvSpPr>
        <p:spPr>
          <a:xfrm>
            <a:off x="4419600" y="3327400"/>
            <a:ext cx="3365500" cy="1016000"/>
          </a:xfrm>
          <a:prstGeom prst="rect">
            <a:avLst/>
          </a:prstGeom>
          <a:solidFill>
            <a:srgbClr val="102B3F"/>
          </a:solidFill>
          <a:ln>
            <a:noFill/>
          </a:ln>
        </p:spPr>
        <p:txBody>
          <a:bodyPr wrap="square" lIns="177800" tIns="101600" rIns="177800" bIns="101600" anchor="ctr"/>
          <a:lstStyle/>
          <a:p>
            <a:pPr marL="0" indent="0" algn="ctr">
              <a:buNone/>
            </a:pPr>
            <a:r>
              <a:rPr lang="en-US" sz="1600" b="1" spc="40" dirty="0">
                <a:solidFill>
                  <a:srgbClr val="F7F2E6"/>
                </a:solidFill>
                <a:latin typeface="Aptos Display" pitchFamily="34" charset="0"/>
                <a:ea typeface="Aptos Display" pitchFamily="34" charset="-122"/>
                <a:cs typeface="Aptos Display" pitchFamily="34" charset="-120"/>
              </a:rPr>
              <a:t>EVERY FIELD ADVANCES FASTER</a:t>
            </a:r>
          </a:p>
        </p:txBody>
      </p:sp>
      <p:sp>
        <p:nvSpPr>
          <p:cNvPr id="322" name="Now 3"/>
          <p:cNvSpPr/>
          <p:nvPr/>
        </p:nvSpPr>
        <p:spPr>
          <a:xfrm>
            <a:off x="8267700" y="3327400"/>
            <a:ext cx="3365500" cy="1016000"/>
          </a:xfrm>
          <a:prstGeom prst="rect">
            <a:avLst/>
          </a:prstGeom>
          <a:solidFill>
            <a:srgbClr val="9C5A35"/>
          </a:solidFill>
          <a:ln>
            <a:noFill/>
          </a:ln>
        </p:spPr>
        <p:txBody>
          <a:bodyPr wrap="square" lIns="177800" tIns="101600" rIns="177800" bIns="101600" anchor="ctr"/>
          <a:lstStyle/>
          <a:p>
            <a:pPr marL="0" indent="0" algn="ctr">
              <a:lnSpc>
                <a:spcPct val="100000"/>
              </a:lnSpc>
              <a:buNone/>
            </a:pPr>
            <a:r>
              <a:rPr lang="en-US" sz="1600" b="1" spc="60" dirty="0">
                <a:solidFill>
                  <a:srgbClr val="F7F2E6"/>
                </a:solidFill>
                <a:latin typeface="Aptos Display" pitchFamily="34" charset="0"/>
                <a:ea typeface="Aptos Display" pitchFamily="34" charset="-122"/>
                <a:cs typeface="Aptos Display" pitchFamily="34" charset="-120"/>
              </a:rPr>
              <a:t>YOUR CORNER</a:t>
            </a:r>
          </a:p>
          <a:p>
            <a:pPr marL="0" indent="0" algn="ctr">
              <a:lnSpc>
                <a:spcPct val="100000"/>
              </a:lnSpc>
              <a:spcBef>
                <a:spcPts val="400"/>
              </a:spcBef>
              <a:buNone/>
            </a:pPr>
            <a:r>
              <a:rPr lang="en-US" sz="1400" dirty="0">
                <a:solidFill>
                  <a:srgbClr val="F2E3D2"/>
                </a:solidFill>
                <a:latin typeface="Aptos Display" pitchFamily="34" charset="0"/>
                <a:ea typeface="Aptos Display" pitchFamily="34" charset="-122"/>
                <a:cs typeface="Aptos Display" pitchFamily="34" charset="-120"/>
              </a:rPr>
              <a:t>Materials science • Mining</a:t>
            </a:r>
          </a:p>
          <a:p>
            <a:pPr marL="0" indent="0" algn="ctr">
              <a:lnSpc>
                <a:spcPct val="100000"/>
              </a:lnSpc>
              <a:buNone/>
            </a:pPr>
            <a:r>
              <a:rPr lang="en-US" sz="1400" dirty="0">
                <a:solidFill>
                  <a:srgbClr val="F2E3D2"/>
                </a:solidFill>
                <a:latin typeface="Aptos Display" pitchFamily="34" charset="0"/>
                <a:ea typeface="Aptos Display" pitchFamily="34" charset="-122"/>
                <a:cs typeface="Aptos Display" pitchFamily="34" charset="-120"/>
              </a:rPr>
              <a:t>Energy • Robotics</a:t>
            </a:r>
          </a:p>
        </p:txBody>
      </p:sp>
      <p:sp>
        <p:nvSpPr>
          <p:cNvPr id="323" name="Arrow 323"/>
          <p:cNvSpPr/>
          <p:nvPr/>
        </p:nvSpPr>
        <p:spPr>
          <a:xfrm rot="5400000">
            <a:off x="4064000" y="3721100"/>
            <a:ext cx="228600" cy="228600"/>
          </a:xfrm>
          <a:prstGeom prst="triangle">
            <a:avLst/>
          </a:prstGeom>
          <a:solidFill>
            <a:srgbClr val="9C5A35"/>
          </a:solidFill>
          <a:ln>
            <a:noFill/>
          </a:ln>
        </p:spPr>
        <p:txBody>
          <a:bodyPr/>
          <a:lstStyle/>
          <a:p>
            <a:endParaRPr lang="en-US"/>
          </a:p>
        </p:txBody>
      </p:sp>
      <p:sp>
        <p:nvSpPr>
          <p:cNvPr id="324" name="Arrow 324"/>
          <p:cNvSpPr/>
          <p:nvPr/>
        </p:nvSpPr>
        <p:spPr>
          <a:xfrm rot="5400000">
            <a:off x="7912100" y="3721100"/>
            <a:ext cx="228600" cy="228600"/>
          </a:xfrm>
          <a:prstGeom prst="triangle">
            <a:avLst/>
          </a:prstGeom>
          <a:solidFill>
            <a:srgbClr val="9C5A35"/>
          </a:solidFill>
          <a:ln>
            <a:noFill/>
          </a:ln>
        </p:spPr>
        <p:txBody>
          <a:bodyPr/>
          <a:lstStyle/>
          <a:p>
            <a:endParaRPr lang="en-US"/>
          </a:p>
        </p:txBody>
      </p:sp>
      <p:sp>
        <p:nvSpPr>
          <p:cNvPr id="325" name="Now caption"/>
          <p:cNvSpPr txBox="1"/>
          <p:nvPr/>
        </p:nvSpPr>
        <p:spPr>
          <a:xfrm>
            <a:off x="571500" y="4445000"/>
            <a:ext cx="11061700" cy="254000"/>
          </a:xfrm>
          <a:prstGeom prst="rect">
            <a:avLst/>
          </a:prstGeom>
          <a:noFill/>
          <a:ln>
            <a:noFill/>
          </a:ln>
        </p:spPr>
        <p:txBody>
          <a:bodyPr wrap="square" lIns="0" tIns="0" rIns="0" bIns="0" anchor="t"/>
          <a:lstStyle/>
          <a:p>
            <a:pPr marL="0" indent="0" algn="ctr">
              <a:buNone/>
            </a:pPr>
            <a:r>
              <a:rPr lang="en-US" sz="1400" dirty="0">
                <a:solidFill>
                  <a:srgbClr val="5E6A74"/>
                </a:solidFill>
              </a:rPr>
              <a:t>Same pattern. Faster clock. And it is not only AI that is advancing.</a:t>
            </a:r>
          </a:p>
        </p:txBody>
      </p:sp>
      <p:sp>
        <p:nvSpPr>
          <p:cNvPr id="330" name="Payoff band"/>
          <p:cNvSpPr/>
          <p:nvPr/>
        </p:nvSpPr>
        <p:spPr>
          <a:xfrm>
            <a:off x="571500" y="5232400"/>
            <a:ext cx="11061700" cy="812800"/>
          </a:xfrm>
          <a:prstGeom prst="rect">
            <a:avLst/>
          </a:prstGeom>
          <a:solidFill>
            <a:srgbClr val="102B3F"/>
          </a:solidFill>
          <a:ln>
            <a:noFill/>
          </a:ln>
        </p:spPr>
        <p:txBody>
          <a:bodyPr wrap="square" lIns="177800" tIns="101600" rIns="177800" bIns="101600" anchor="ctr"/>
          <a:lstStyle/>
          <a:p>
            <a:pPr marL="0" indent="0" algn="ctr">
              <a:buNone/>
            </a:pPr>
            <a:r>
              <a:rPr lang="en-US" sz="2400" b="1" dirty="0">
                <a:solidFill>
                  <a:srgbClr val="F7F2E6"/>
                </a:solidFill>
                <a:latin typeface="Aptos Display" pitchFamily="34" charset="0"/>
                <a:ea typeface="Aptos Display" pitchFamily="34" charset="-122"/>
                <a:cs typeface="Aptos Display" pitchFamily="34" charset="-120"/>
              </a:rPr>
              <a:t>There has never been a better ten years to look around the corner.</a:t>
            </a:r>
          </a:p>
        </p:txBody>
      </p:sp>
    </p:spTree>
    <p:extLst>
      <p:ext uri="{BB962C8B-B14F-4D97-AF65-F5344CB8AC3E}">
        <p14:creationId xmlns:p14="http://schemas.microsoft.com/office/powerpoint/2010/main" val="1735446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658368"/>
            <a:ext cx="5577840" cy="2240280"/>
          </a:xfrm>
          <a:prstGeom prst="rect">
            <a:avLst/>
          </a:prstGeom>
          <a:noFill/>
          <a:ln/>
        </p:spPr>
        <p:txBody>
          <a:bodyPr wrap="square" lIns="0" tIns="0" rIns="0" bIns="0" rtlCol="0" anchor="ctr">
            <a:normAutofit/>
          </a:bodyPr>
          <a:lstStyle/>
          <a:p>
            <a:pPr marL="0" indent="0">
              <a:buNone/>
            </a:pPr>
            <a:r>
              <a:rPr lang="en-US" sz="3800" b="1" dirty="0">
                <a:solidFill>
                  <a:srgbClr val="102B3F"/>
                </a:solidFill>
                <a:latin typeface="Aptos Display" pitchFamily="34" charset="0"/>
                <a:ea typeface="Aptos Display" pitchFamily="34" charset="-122"/>
                <a:cs typeface="Aptos Display" pitchFamily="34" charset="-120"/>
              </a:rPr>
              <a:t>SEEING</a:t>
            </a:r>
            <a:endParaRPr lang="en-US" sz="3800" dirty="0"/>
          </a:p>
          <a:p>
            <a:pPr marL="0" indent="0">
              <a:buNone/>
            </a:pPr>
            <a:r>
              <a:rPr lang="en-US" sz="3800" b="1" dirty="0">
                <a:solidFill>
                  <a:srgbClr val="102B3F"/>
                </a:solidFill>
                <a:latin typeface="Aptos Display" pitchFamily="34" charset="0"/>
                <a:ea typeface="Aptos Display" pitchFamily="34" charset="-122"/>
                <a:cs typeface="Aptos Display" pitchFamily="34" charset="-120"/>
              </a:rPr>
              <a:t>AROUND THE</a:t>
            </a:r>
            <a:endParaRPr lang="en-US" sz="3800" dirty="0"/>
          </a:p>
          <a:p>
            <a:pPr marL="0" indent="0">
              <a:buNone/>
            </a:pPr>
            <a:r>
              <a:rPr lang="en-US" sz="3800" b="1" dirty="0">
                <a:solidFill>
                  <a:srgbClr val="102B3F"/>
                </a:solidFill>
                <a:latin typeface="Aptos Display" pitchFamily="34" charset="0"/>
                <a:ea typeface="Aptos Display" pitchFamily="34" charset="-122"/>
                <a:cs typeface="Aptos Display" pitchFamily="34" charset="-120"/>
              </a:rPr>
              <a:t>CORNER</a:t>
            </a:r>
            <a:endParaRPr lang="en-US" sz="3800" dirty="0"/>
          </a:p>
        </p:txBody>
      </p:sp>
      <p:sp>
        <p:nvSpPr>
          <p:cNvPr id="3" name="Shape 1"/>
          <p:cNvSpPr/>
          <p:nvPr/>
        </p:nvSpPr>
        <p:spPr>
          <a:xfrm>
            <a:off x="6510528" y="868680"/>
            <a:ext cx="0" cy="4526280"/>
          </a:xfrm>
          <a:prstGeom prst="line">
            <a:avLst/>
          </a:prstGeom>
          <a:noFill/>
          <a:ln w="38100">
            <a:solidFill>
              <a:srgbClr val="9C5A35"/>
            </a:solidFill>
            <a:prstDash val="solid"/>
          </a:ln>
        </p:spPr>
        <p:txBody>
          <a:bodyPr/>
          <a:lstStyle/>
          <a:p>
            <a:endParaRPr lang="en-US"/>
          </a:p>
        </p:txBody>
      </p:sp>
      <p:sp>
        <p:nvSpPr>
          <p:cNvPr id="4" name="Text 2"/>
          <p:cNvSpPr/>
          <p:nvPr/>
        </p:nvSpPr>
        <p:spPr>
          <a:xfrm>
            <a:off x="6903720" y="987552"/>
            <a:ext cx="4434840" cy="2240280"/>
          </a:xfrm>
          <a:prstGeom prst="rect">
            <a:avLst/>
          </a:prstGeom>
          <a:noFill/>
          <a:ln/>
        </p:spPr>
        <p:txBody>
          <a:bodyPr wrap="square" lIns="254" tIns="254" rIns="254" bIns="254" rtlCol="0" anchor="ctr">
            <a:normAutofit/>
          </a:bodyPr>
          <a:lstStyle/>
          <a:p>
            <a:pPr marL="0" indent="0">
              <a:buNone/>
            </a:pPr>
            <a:r>
              <a:rPr lang="en-US" sz="2400" dirty="0">
                <a:solidFill>
                  <a:srgbClr val="1C252B"/>
                </a:solidFill>
                <a:latin typeface="Aptos Display" pitchFamily="34" charset="0"/>
                <a:ea typeface="Aptos Display" pitchFamily="34" charset="-122"/>
                <a:cs typeface="Aptos Display" pitchFamily="34" charset="-120"/>
              </a:rPr>
              <a:t>The collision of advancing technology with evolving human behavior and rituals creates moments of opportunity for innovation.</a:t>
            </a:r>
            <a:endParaRPr lang="en-US" sz="2400" dirty="0"/>
          </a:p>
        </p:txBody>
      </p:sp>
      <p:sp>
        <p:nvSpPr>
          <p:cNvPr id="5" name="Text 3"/>
          <p:cNvSpPr/>
          <p:nvPr/>
        </p:nvSpPr>
        <p:spPr>
          <a:xfrm>
            <a:off x="6903720" y="3794760"/>
            <a:ext cx="4343400" cy="960120"/>
          </a:xfrm>
          <a:prstGeom prst="rect">
            <a:avLst/>
          </a:prstGeom>
          <a:noFill/>
          <a:ln/>
        </p:spPr>
        <p:txBody>
          <a:bodyPr wrap="square" lIns="0" tIns="0" rIns="0" bIns="0" rtlCol="0" anchor="ctr">
            <a:normAutofit/>
          </a:bodyPr>
          <a:lstStyle/>
          <a:p>
            <a:pPr marL="0" indent="0">
              <a:buNone/>
            </a:pPr>
            <a:r>
              <a:rPr lang="en-US" sz="2700" b="1" dirty="0">
                <a:solidFill>
                  <a:srgbClr val="9C5A35"/>
                </a:solidFill>
                <a:latin typeface="Aptos Display" pitchFamily="34" charset="0"/>
                <a:ea typeface="Aptos Display" pitchFamily="34" charset="-122"/>
                <a:cs typeface="Aptos Display" pitchFamily="34" charset="-120"/>
              </a:rPr>
              <a:t>I hope you see</a:t>
            </a:r>
            <a:endParaRPr lang="en-US" sz="2700" dirty="0"/>
          </a:p>
          <a:p>
            <a:pPr marL="0" indent="0">
              <a:buNone/>
            </a:pPr>
            <a:r>
              <a:rPr lang="en-US" sz="2700" b="1" dirty="0">
                <a:solidFill>
                  <a:srgbClr val="9C5A35"/>
                </a:solidFill>
                <a:latin typeface="Aptos Display" pitchFamily="34" charset="0"/>
                <a:ea typeface="Aptos Display" pitchFamily="34" charset="-122"/>
                <a:cs typeface="Aptos Display" pitchFamily="34" charset="-120"/>
              </a:rPr>
              <a:t>around the corner.</a:t>
            </a:r>
            <a:endParaRPr lang="en-US" sz="2700" dirty="0"/>
          </a:p>
        </p:txBody>
      </p:sp>
      <p:sp>
        <p:nvSpPr>
          <p:cNvPr id="25" name="Slide Number Placeholder 0"/>
          <p:cNvSpPr>
            <a:spLocks noGrp="1"/>
          </p:cNvSpPr>
          <p:nvPr>
            <p:ph type="sldNum" sz="quarter" idx="4294967295"/>
          </p:nvPr>
        </p:nvSpPr>
        <p:spPr>
          <a:xfrm>
            <a:off x="11704320" y="6556248"/>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DCE6EB"/>
                </a:solidFill>
                <a:latin typeface="Aptos"/>
                <a:ea typeface="Aptos"/>
                <a:cs typeface="Aptos"/>
              </a:defRPr>
            </a:lvl1pPr>
          </a:lstStyle>
          <a:p>
            <a:pPr algn="l"/>
            <a:fld id="{F7021451-1387-4CA6-816F-3879F97B5CBC}" type="slidenum">
              <a:rPr lang="en-US" b="0"/>
              <a:t>8</a:t>
            </a:fld>
            <a:endParaRPr lang="en-US"/>
          </a:p>
        </p:txBody>
      </p:sp>
      <p:sp>
        <p:nvSpPr>
          <p:cNvPr id="500" name="Corner Arc 5"/>
          <p:cNvSpPr/>
          <p:nvPr/>
        </p:nvSpPr>
        <p:spPr>
          <a:xfrm rot="600000">
            <a:off x="914400" y="4160520"/>
            <a:ext cx="2194560" cy="1417320"/>
          </a:xfrm>
          <a:prstGeom prst="arc">
            <a:avLst/>
          </a:prstGeom>
          <a:solidFill>
            <a:srgbClr val="F6F3EC">
              <a:alpha val="0"/>
            </a:srgbClr>
          </a:solidFill>
          <a:ln w="25400">
            <a:solidFill>
              <a:srgbClr val="2C607C">
                <a:alpha val="70000"/>
              </a:srgbClr>
            </a:solidFill>
            <a:prstDash val="solid"/>
          </a:ln>
        </p:spPr>
        <p:txBody>
          <a:bodyPr/>
          <a:lstStyle/>
          <a:p>
            <a:endParaRPr lang="en-US"/>
          </a:p>
        </p:txBody>
      </p:sp>
      <p:sp>
        <p:nvSpPr>
          <p:cNvPr id="501" name="Corner Arc 6"/>
          <p:cNvSpPr/>
          <p:nvPr/>
        </p:nvSpPr>
        <p:spPr>
          <a:xfrm rot="11400000">
            <a:off x="2926080" y="4114800"/>
            <a:ext cx="2194560" cy="1417320"/>
          </a:xfrm>
          <a:prstGeom prst="arc">
            <a:avLst/>
          </a:prstGeom>
          <a:solidFill>
            <a:srgbClr val="F6F3EC">
              <a:alpha val="0"/>
            </a:srgbClr>
          </a:solidFill>
          <a:ln w="25400">
            <a:solidFill>
              <a:srgbClr val="4C7C82">
                <a:alpha val="70000"/>
              </a:srgbClr>
            </a:solidFill>
            <a:prstDash val="solid"/>
          </a:ln>
        </p:spPr>
        <p:txBody>
          <a:bodyPr/>
          <a:lstStyle/>
          <a:p>
            <a:endParaRPr lang="en-US"/>
          </a:p>
        </p:txBody>
      </p:sp>
      <p:sp>
        <p:nvSpPr>
          <p:cNvPr id="6" name="Shape 4"/>
          <p:cNvSpPr/>
          <p:nvPr/>
        </p:nvSpPr>
        <p:spPr>
          <a:xfrm>
            <a:off x="2816352" y="4709160"/>
            <a:ext cx="164592" cy="164592"/>
          </a:xfrm>
          <a:prstGeom prst="ellipse">
            <a:avLst/>
          </a:prstGeom>
          <a:solidFill>
            <a:srgbClr val="9C5A35"/>
          </a:solidFill>
          <a:ln w="12700">
            <a:solidFill>
              <a:srgbClr val="9C5A35"/>
            </a:solidFill>
            <a:prstDash val="solid"/>
          </a:ln>
        </p:spPr>
        <p:txBody>
          <a:bodyPr/>
          <a:lstStyle/>
          <a:p>
            <a:endParaRPr lang="en-US"/>
          </a:p>
        </p:txBody>
      </p:sp>
    </p:spTree>
    <p:extLst>
      <p:ext uri="{BB962C8B-B14F-4D97-AF65-F5344CB8AC3E}">
        <p14:creationId xmlns:p14="http://schemas.microsoft.com/office/powerpoint/2010/main" val="1172003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3F54A7B-B213-5A46-91BB-D1B924BE6362}">
  <we:reference id="wa200010001" version="1.0.0.1" store="en-US" storeType="OMEX"/>
  <we:alternateReferences>
    <we:reference id="wa200010001" version="1.0.0.1" store="en-US" storeType="OMEX"/>
  </we:alternateReferences>
  <we:properties>
    <we:property name="claude.fileId" value="&quot;5e8107e0-2cf6-4a19-bec5-9833d4e152a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668</TotalTime>
  <Words>1156</Words>
  <Application>Microsoft Macintosh PowerPoint</Application>
  <PresentationFormat>Widescreen</PresentationFormat>
  <Paragraphs>162</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Todd Beetcher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Seeing Around the Corner</dc:title>
  <dc:subject>Seeing Around the Corner</dc:subject>
  <dc:creator>Todd Beetcher</dc:creator>
  <cp:lastModifiedBy>Todd Beetcher</cp:lastModifiedBy>
  <cp:revision>9</cp:revision>
  <dcterms:created xsi:type="dcterms:W3CDTF">2026-09-07T15:06:14Z</dcterms:created>
  <dcterms:modified xsi:type="dcterms:W3CDTF">2026-09-08T12:45:59Z</dcterms:modified>
</cp:coreProperties>
</file>